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3" r:id="rId8"/>
    <p:sldId id="264" r:id="rId9"/>
    <p:sldId id="265" r:id="rId10"/>
    <p:sldId id="266" r:id="rId11"/>
    <p:sldId id="267" r:id="rId12"/>
    <p:sldId id="268" r:id="rId13"/>
    <p:sldId id="262"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7F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9" d="100"/>
          <a:sy n="79" d="100"/>
        </p:scale>
        <p:origin x="115" y="3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jpeg"/><Relationship Id="rId7" Type="http://schemas.openxmlformats.org/officeDocument/2006/relationships/hyperlink" Target="https://pixabay.com/en/ascending-graph-bar-graphs-progress-1173935/" TargetMode="External"/><Relationship Id="rId2" Type="http://schemas.openxmlformats.org/officeDocument/2006/relationships/hyperlink" Target="http://ciudadesverdes.com/la-contaminacion-del-aire-urbano-la-otra-pandemia/" TargetMode="External"/><Relationship Id="rId1" Type="http://schemas.openxmlformats.org/officeDocument/2006/relationships/image" Target="../media/image4.jpg"/><Relationship Id="rId6" Type="http://schemas.openxmlformats.org/officeDocument/2006/relationships/image" Target="../media/image7.png"/><Relationship Id="rId5" Type="http://schemas.openxmlformats.org/officeDocument/2006/relationships/hyperlink" Target="http://www.debbest.com/2016/10/16/the-cost-of-missing-the-december-1st-flsa-deadline-in-business-and-at-work/" TargetMode="External"/><Relationship Id="rId4" Type="http://schemas.openxmlformats.org/officeDocument/2006/relationships/image" Target="../media/image6.jpg"/><Relationship Id="rId9" Type="http://schemas.openxmlformats.org/officeDocument/2006/relationships/hyperlink" Target="http://pixabay.com/en/man-avator-person-admin-161282/" TargetMode="External"/></Relationships>
</file>

<file path=ppt/diagrams/_rels/drawing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jpeg"/><Relationship Id="rId7" Type="http://schemas.openxmlformats.org/officeDocument/2006/relationships/hyperlink" Target="https://pixabay.com/en/ascending-graph-bar-graphs-progress-1173935/" TargetMode="External"/><Relationship Id="rId2" Type="http://schemas.openxmlformats.org/officeDocument/2006/relationships/hyperlink" Target="http://ciudadesverdes.com/la-contaminacion-del-aire-urbano-la-otra-pandemia/" TargetMode="External"/><Relationship Id="rId1" Type="http://schemas.openxmlformats.org/officeDocument/2006/relationships/image" Target="../media/image4.jpg"/><Relationship Id="rId6" Type="http://schemas.openxmlformats.org/officeDocument/2006/relationships/image" Target="../media/image7.png"/><Relationship Id="rId5" Type="http://schemas.openxmlformats.org/officeDocument/2006/relationships/hyperlink" Target="http://www.debbest.com/2016/10/16/the-cost-of-missing-the-december-1st-flsa-deadline-in-business-and-at-work/" TargetMode="External"/><Relationship Id="rId4" Type="http://schemas.openxmlformats.org/officeDocument/2006/relationships/image" Target="../media/image6.jpg"/><Relationship Id="rId9" Type="http://schemas.openxmlformats.org/officeDocument/2006/relationships/hyperlink" Target="http://pixabay.com/en/man-avator-person-admin-161282/"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336E57-CCF7-4FFC-A4E1-C613340E812E}"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IN"/>
        </a:p>
      </dgm:t>
    </dgm:pt>
    <dgm:pt modelId="{E9B29E6A-00AC-4AC3-91A9-1E50778B9557}">
      <dgm:prSet/>
      <dgm:spPr/>
      <dgm:t>
        <a:bodyPr/>
        <a:lstStyle/>
        <a:p>
          <a:r>
            <a:rPr lang="en-US"/>
            <a:t>• A time series forecasting model to predict AQI and key pollutants (PM2.5, PM10, NO2, etc.). </a:t>
          </a:r>
          <a:endParaRPr lang="en-IN"/>
        </a:p>
      </dgm:t>
    </dgm:pt>
    <dgm:pt modelId="{0A2E06F3-4FEE-4C0F-BD83-C7B6E070875A}" type="parTrans" cxnId="{13BB46B1-01B8-4DDA-A911-0547ECE7FB10}">
      <dgm:prSet/>
      <dgm:spPr/>
      <dgm:t>
        <a:bodyPr/>
        <a:lstStyle/>
        <a:p>
          <a:endParaRPr lang="en-IN"/>
        </a:p>
      </dgm:t>
    </dgm:pt>
    <dgm:pt modelId="{E675E441-695F-46BC-AE79-CDB7DC6D12FA}" type="sibTrans" cxnId="{13BB46B1-01B8-4DDA-A911-0547ECE7FB10}">
      <dgm:prSet/>
      <dgm:spPr/>
      <dgm:t>
        <a:bodyPr/>
        <a:lstStyle/>
        <a:p>
          <a:endParaRPr lang="en-IN"/>
        </a:p>
      </dgm:t>
    </dgm:pt>
    <dgm:pt modelId="{5EBF5297-053B-4DF5-BADB-91F90AE14E56}">
      <dgm:prSet/>
      <dgm:spPr/>
      <dgm:t>
        <a:bodyPr/>
        <a:lstStyle/>
        <a:p>
          <a:r>
            <a:rPr lang="en-US"/>
            <a:t>• Visual dashboard showing historical trends and future air quality predictions. </a:t>
          </a:r>
          <a:endParaRPr lang="en-IN"/>
        </a:p>
      </dgm:t>
    </dgm:pt>
    <dgm:pt modelId="{A5FF77C9-EE21-427E-B523-B61D7BFF868E}" type="parTrans" cxnId="{7717FBC1-F0B2-444C-B906-E69D446568F2}">
      <dgm:prSet/>
      <dgm:spPr/>
      <dgm:t>
        <a:bodyPr/>
        <a:lstStyle/>
        <a:p>
          <a:endParaRPr lang="en-IN"/>
        </a:p>
      </dgm:t>
    </dgm:pt>
    <dgm:pt modelId="{B2BC1871-F0D4-4163-A8C3-1C792A7799C2}" type="sibTrans" cxnId="{7717FBC1-F0B2-444C-B906-E69D446568F2}">
      <dgm:prSet/>
      <dgm:spPr/>
      <dgm:t>
        <a:bodyPr/>
        <a:lstStyle/>
        <a:p>
          <a:endParaRPr lang="en-IN"/>
        </a:p>
      </dgm:t>
    </dgm:pt>
    <dgm:pt modelId="{BAC661F7-E40B-4C4F-828B-FD0427DCE3EA}">
      <dgm:prSet/>
      <dgm:spPr/>
      <dgm:t>
        <a:bodyPr/>
        <a:lstStyle/>
        <a:p>
          <a:r>
            <a:rPr lang="en-US"/>
            <a:t>• Alerts or warnings when predicted AQI crosses safety thresholds. </a:t>
          </a:r>
          <a:endParaRPr lang="en-IN"/>
        </a:p>
      </dgm:t>
    </dgm:pt>
    <dgm:pt modelId="{3EF47018-23FC-47D1-A985-E1BABFA4A2EA}" type="parTrans" cxnId="{9EA8DEAE-8D18-42D6-A2B5-2B9F8918619D}">
      <dgm:prSet/>
      <dgm:spPr/>
      <dgm:t>
        <a:bodyPr/>
        <a:lstStyle/>
        <a:p>
          <a:endParaRPr lang="en-IN"/>
        </a:p>
      </dgm:t>
    </dgm:pt>
    <dgm:pt modelId="{06041EBA-43E0-46EC-8EDE-2B61FA489788}" type="sibTrans" cxnId="{9EA8DEAE-8D18-42D6-A2B5-2B9F8918619D}">
      <dgm:prSet/>
      <dgm:spPr/>
      <dgm:t>
        <a:bodyPr/>
        <a:lstStyle/>
        <a:p>
          <a:endParaRPr lang="en-IN"/>
        </a:p>
      </dgm:t>
    </dgm:pt>
    <dgm:pt modelId="{68CEA22A-5D1E-45BA-B92B-C2269C46C57F}">
      <dgm:prSet/>
      <dgm:spPr/>
      <dgm:t>
        <a:bodyPr/>
        <a:lstStyle/>
        <a:p>
          <a:r>
            <a:rPr lang="en-US"/>
            <a:t>• Ability to analyze pollutant contributions and seasonal trends. </a:t>
          </a:r>
          <a:endParaRPr lang="en-IN"/>
        </a:p>
      </dgm:t>
    </dgm:pt>
    <dgm:pt modelId="{A4F8C65A-07C5-4BBF-A271-3396870982FB}" type="parTrans" cxnId="{D886B27E-3AED-472A-8293-862F314A1F4A}">
      <dgm:prSet/>
      <dgm:spPr/>
      <dgm:t>
        <a:bodyPr/>
        <a:lstStyle/>
        <a:p>
          <a:endParaRPr lang="en-IN"/>
        </a:p>
      </dgm:t>
    </dgm:pt>
    <dgm:pt modelId="{59800BBF-DE71-4284-83AF-ED76B1D7C113}" type="sibTrans" cxnId="{D886B27E-3AED-472A-8293-862F314A1F4A}">
      <dgm:prSet/>
      <dgm:spPr/>
      <dgm:t>
        <a:bodyPr/>
        <a:lstStyle/>
        <a:p>
          <a:endParaRPr lang="en-IN"/>
        </a:p>
      </dgm:t>
    </dgm:pt>
    <dgm:pt modelId="{66BF1A00-C28C-48E3-AFC9-A50BF20DA8CC}">
      <dgm:prSet/>
      <dgm:spPr/>
      <dgm:t>
        <a:bodyPr/>
        <a:lstStyle/>
        <a:p>
          <a:r>
            <a:rPr lang="en-US"/>
            <a:t>• Admin functionality to upload new datasets and retrain models for updated forecasting. </a:t>
          </a:r>
          <a:endParaRPr lang="en-IN"/>
        </a:p>
      </dgm:t>
    </dgm:pt>
    <dgm:pt modelId="{F0542B91-AA57-4CD4-85F8-54996693412A}" type="parTrans" cxnId="{184ADB88-942B-46B7-BB22-41D0B973E4CA}">
      <dgm:prSet/>
      <dgm:spPr/>
      <dgm:t>
        <a:bodyPr/>
        <a:lstStyle/>
        <a:p>
          <a:endParaRPr lang="en-IN"/>
        </a:p>
      </dgm:t>
    </dgm:pt>
    <dgm:pt modelId="{6D33E8FA-8062-47C2-B5C6-EC423E14472B}" type="sibTrans" cxnId="{184ADB88-942B-46B7-BB22-41D0B973E4CA}">
      <dgm:prSet/>
      <dgm:spPr/>
      <dgm:t>
        <a:bodyPr/>
        <a:lstStyle/>
        <a:p>
          <a:endParaRPr lang="en-IN"/>
        </a:p>
      </dgm:t>
    </dgm:pt>
    <dgm:pt modelId="{50DA793A-6AB0-4DCD-A961-1A72D8211BE2}" type="pres">
      <dgm:prSet presAssocID="{BC336E57-CCF7-4FFC-A4E1-C613340E812E}" presName="linearFlow" presStyleCnt="0">
        <dgm:presLayoutVars>
          <dgm:dir/>
          <dgm:resizeHandles val="exact"/>
        </dgm:presLayoutVars>
      </dgm:prSet>
      <dgm:spPr/>
    </dgm:pt>
    <dgm:pt modelId="{179C3109-C3E8-47A7-ABCA-4F870A8C3B94}" type="pres">
      <dgm:prSet presAssocID="{E9B29E6A-00AC-4AC3-91A9-1E50778B9557}" presName="composite" presStyleCnt="0"/>
      <dgm:spPr/>
    </dgm:pt>
    <dgm:pt modelId="{721AFC5C-E2E8-43D8-BC69-2D961844ACE6}" type="pres">
      <dgm:prSet presAssocID="{E9B29E6A-00AC-4AC3-91A9-1E50778B9557}" presName="imgShp" presStyleLbl="fgImgPlace1" presStyleIdx="0" presStyleCnt="5"/>
      <dgm:spPr>
        <a:blipFill>
          <a:blip xmlns:r="http://schemas.openxmlformats.org/officeDocument/2006/relationships" r:embed="rId1">
            <a:extLst>
              <a:ext uri="{28A0092B-C50C-407E-A947-70E740481C1C}">
                <a14:useLocalDpi xmlns:a14="http://schemas.microsoft.com/office/drawing/2010/main" val="0"/>
              </a:ext>
              <a:ext uri="{837473B0-CC2E-450A-ABE3-18F120FF3D39}">
                <a1611:picAttrSrcUrl xmlns:a1611="http://schemas.microsoft.com/office/drawing/2016/11/main" r:id="rId2"/>
              </a:ext>
            </a:extLst>
          </a:blip>
          <a:srcRect/>
          <a:stretch>
            <a:fillRect l="-25000" r="-25000"/>
          </a:stretch>
        </a:blipFill>
      </dgm:spPr>
    </dgm:pt>
    <dgm:pt modelId="{6649FCC3-4CD8-4B84-8D9E-8A8DDB9FF941}" type="pres">
      <dgm:prSet presAssocID="{E9B29E6A-00AC-4AC3-91A9-1E50778B9557}" presName="txShp" presStyleLbl="node1" presStyleIdx="0" presStyleCnt="5">
        <dgm:presLayoutVars>
          <dgm:bulletEnabled val="1"/>
        </dgm:presLayoutVars>
      </dgm:prSet>
      <dgm:spPr/>
    </dgm:pt>
    <dgm:pt modelId="{8B072441-E22F-45F0-86CD-41FE092047C3}" type="pres">
      <dgm:prSet presAssocID="{E675E441-695F-46BC-AE79-CDB7DC6D12FA}" presName="spacing" presStyleCnt="0"/>
      <dgm:spPr/>
    </dgm:pt>
    <dgm:pt modelId="{C9357C26-3329-4584-9DD2-D0805C1D5522}" type="pres">
      <dgm:prSet presAssocID="{5EBF5297-053B-4DF5-BADB-91F90AE14E56}" presName="composite" presStyleCnt="0"/>
      <dgm:spPr/>
    </dgm:pt>
    <dgm:pt modelId="{4237AD62-6C8C-45E9-B122-72400BCADE07}" type="pres">
      <dgm:prSet presAssocID="{5EBF5297-053B-4DF5-BADB-91F90AE14E56}" presName="imgShp" presStyleLbl="fgImgPlace1" presStyleIdx="1" presStyleCnt="5"/>
      <dgm:spPr>
        <a:blipFill>
          <a:blip xmlns:r="http://schemas.openxmlformats.org/officeDocument/2006/relationships" r:embed="rId3">
            <a:extLst>
              <a:ext uri="{28A0092B-C50C-407E-A947-70E740481C1C}">
                <a14:useLocalDpi xmlns:a14="http://schemas.microsoft.com/office/drawing/2010/main" val="0"/>
              </a:ext>
            </a:extLst>
          </a:blip>
          <a:srcRect/>
          <a:stretch>
            <a:fillRect l="-33000" r="-33000"/>
          </a:stretch>
        </a:blipFill>
      </dgm:spPr>
    </dgm:pt>
    <dgm:pt modelId="{5825FAC8-877B-4786-995B-32D1F75A2AE2}" type="pres">
      <dgm:prSet presAssocID="{5EBF5297-053B-4DF5-BADB-91F90AE14E56}" presName="txShp" presStyleLbl="node1" presStyleIdx="1" presStyleCnt="5">
        <dgm:presLayoutVars>
          <dgm:bulletEnabled val="1"/>
        </dgm:presLayoutVars>
      </dgm:prSet>
      <dgm:spPr/>
    </dgm:pt>
    <dgm:pt modelId="{FF8C0827-CCAE-401E-8AD8-3BD5CB019DF1}" type="pres">
      <dgm:prSet presAssocID="{B2BC1871-F0D4-4163-A8C3-1C792A7799C2}" presName="spacing" presStyleCnt="0"/>
      <dgm:spPr/>
    </dgm:pt>
    <dgm:pt modelId="{8C797CE6-231A-4FDE-843D-458AAAA61AFF}" type="pres">
      <dgm:prSet presAssocID="{BAC661F7-E40B-4C4F-828B-FD0427DCE3EA}" presName="composite" presStyleCnt="0"/>
      <dgm:spPr/>
    </dgm:pt>
    <dgm:pt modelId="{83848EF0-A381-44EF-B6B1-735200D4050B}" type="pres">
      <dgm:prSet presAssocID="{BAC661F7-E40B-4C4F-828B-FD0427DCE3EA}" presName="imgShp" presStyleLbl="fgImgPlace1" presStyleIdx="2" presStyleCnt="5"/>
      <dgm:spPr>
        <a:blipFill>
          <a:blip xmlns:r="http://schemas.openxmlformats.org/officeDocument/2006/relationships"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a:stretch>
            <a:fillRect l="-7000" r="-7000"/>
          </a:stretch>
        </a:blipFill>
      </dgm:spPr>
    </dgm:pt>
    <dgm:pt modelId="{C1A06C8C-C223-401B-A0ED-82DC8696AEEF}" type="pres">
      <dgm:prSet presAssocID="{BAC661F7-E40B-4C4F-828B-FD0427DCE3EA}" presName="txShp" presStyleLbl="node1" presStyleIdx="2" presStyleCnt="5">
        <dgm:presLayoutVars>
          <dgm:bulletEnabled val="1"/>
        </dgm:presLayoutVars>
      </dgm:prSet>
      <dgm:spPr/>
    </dgm:pt>
    <dgm:pt modelId="{42CD8D89-BBBA-4340-A125-8437C029C4ED}" type="pres">
      <dgm:prSet presAssocID="{06041EBA-43E0-46EC-8EDE-2B61FA489788}" presName="spacing" presStyleCnt="0"/>
      <dgm:spPr/>
    </dgm:pt>
    <dgm:pt modelId="{758F6F4A-53B5-4E74-B93B-ACF55F71DD70}" type="pres">
      <dgm:prSet presAssocID="{68CEA22A-5D1E-45BA-B92B-C2269C46C57F}" presName="composite" presStyleCnt="0"/>
      <dgm:spPr/>
    </dgm:pt>
    <dgm:pt modelId="{3825C1CE-929E-4FD1-93DA-10E95C41EE30}" type="pres">
      <dgm:prSet presAssocID="{68CEA22A-5D1E-45BA-B92B-C2269C46C57F}" presName="imgShp" presStyleLbl="fgImgPlace1" presStyleIdx="3" presStyleCnt="5"/>
      <dgm:spPr>
        <a:blipFill>
          <a:blip xmlns:r="http://schemas.openxmlformats.org/officeDocument/2006/relationships"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a:stretch>
            <a:fillRect l="-25000" r="-25000"/>
          </a:stretch>
        </a:blipFill>
      </dgm:spPr>
    </dgm:pt>
    <dgm:pt modelId="{38E1ED80-2C0C-4E64-B5C7-6A50794F8578}" type="pres">
      <dgm:prSet presAssocID="{68CEA22A-5D1E-45BA-B92B-C2269C46C57F}" presName="txShp" presStyleLbl="node1" presStyleIdx="3" presStyleCnt="5">
        <dgm:presLayoutVars>
          <dgm:bulletEnabled val="1"/>
        </dgm:presLayoutVars>
      </dgm:prSet>
      <dgm:spPr/>
    </dgm:pt>
    <dgm:pt modelId="{7B6B30D5-ADE9-4237-AADC-005316525AD4}" type="pres">
      <dgm:prSet presAssocID="{59800BBF-DE71-4284-83AF-ED76B1D7C113}" presName="spacing" presStyleCnt="0"/>
      <dgm:spPr/>
    </dgm:pt>
    <dgm:pt modelId="{59884AD9-032D-4213-A7D5-206CCA4863C6}" type="pres">
      <dgm:prSet presAssocID="{66BF1A00-C28C-48E3-AFC9-A50BF20DA8CC}" presName="composite" presStyleCnt="0"/>
      <dgm:spPr/>
    </dgm:pt>
    <dgm:pt modelId="{94CC8E7D-D894-4BBA-9647-071157027683}" type="pres">
      <dgm:prSet presAssocID="{66BF1A00-C28C-48E3-AFC9-A50BF20DA8CC}" presName="imgShp" presStyleLbl="fgImgPlace1" presStyleIdx="4" presStyleCnt="5"/>
      <dgm:spPr>
        <a:blipFill>
          <a:blip xmlns:r="http://schemas.openxmlformats.org/officeDocument/2006/relationships"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a:stretch>
            <a:fillRect t="-12000" b="-12000"/>
          </a:stretch>
        </a:blipFill>
      </dgm:spPr>
    </dgm:pt>
    <dgm:pt modelId="{76D4D518-7378-4A6B-9587-789909EF2E35}" type="pres">
      <dgm:prSet presAssocID="{66BF1A00-C28C-48E3-AFC9-A50BF20DA8CC}" presName="txShp" presStyleLbl="node1" presStyleIdx="4" presStyleCnt="5">
        <dgm:presLayoutVars>
          <dgm:bulletEnabled val="1"/>
        </dgm:presLayoutVars>
      </dgm:prSet>
      <dgm:spPr/>
    </dgm:pt>
  </dgm:ptLst>
  <dgm:cxnLst>
    <dgm:cxn modelId="{01736E0D-20BC-442B-BCA2-8AAB2F8A2D6B}" type="presOf" srcId="{68CEA22A-5D1E-45BA-B92B-C2269C46C57F}" destId="{38E1ED80-2C0C-4E64-B5C7-6A50794F8578}" srcOrd="0" destOrd="0" presId="urn:microsoft.com/office/officeart/2005/8/layout/vList3"/>
    <dgm:cxn modelId="{805C403B-FA12-4D7D-9042-A89DFDF09061}" type="presOf" srcId="{E9B29E6A-00AC-4AC3-91A9-1E50778B9557}" destId="{6649FCC3-4CD8-4B84-8D9E-8A8DDB9FF941}" srcOrd="0" destOrd="0" presId="urn:microsoft.com/office/officeart/2005/8/layout/vList3"/>
    <dgm:cxn modelId="{D886B27E-3AED-472A-8293-862F314A1F4A}" srcId="{BC336E57-CCF7-4FFC-A4E1-C613340E812E}" destId="{68CEA22A-5D1E-45BA-B92B-C2269C46C57F}" srcOrd="3" destOrd="0" parTransId="{A4F8C65A-07C5-4BBF-A271-3396870982FB}" sibTransId="{59800BBF-DE71-4284-83AF-ED76B1D7C113}"/>
    <dgm:cxn modelId="{184ADB88-942B-46B7-BB22-41D0B973E4CA}" srcId="{BC336E57-CCF7-4FFC-A4E1-C613340E812E}" destId="{66BF1A00-C28C-48E3-AFC9-A50BF20DA8CC}" srcOrd="4" destOrd="0" parTransId="{F0542B91-AA57-4CD4-85F8-54996693412A}" sibTransId="{6D33E8FA-8062-47C2-B5C6-EC423E14472B}"/>
    <dgm:cxn modelId="{2A676A8C-458E-4AB5-8EFF-2433D240D949}" type="presOf" srcId="{5EBF5297-053B-4DF5-BADB-91F90AE14E56}" destId="{5825FAC8-877B-4786-995B-32D1F75A2AE2}" srcOrd="0" destOrd="0" presId="urn:microsoft.com/office/officeart/2005/8/layout/vList3"/>
    <dgm:cxn modelId="{9EA8DEAE-8D18-42D6-A2B5-2B9F8918619D}" srcId="{BC336E57-CCF7-4FFC-A4E1-C613340E812E}" destId="{BAC661F7-E40B-4C4F-828B-FD0427DCE3EA}" srcOrd="2" destOrd="0" parTransId="{3EF47018-23FC-47D1-A985-E1BABFA4A2EA}" sibTransId="{06041EBA-43E0-46EC-8EDE-2B61FA489788}"/>
    <dgm:cxn modelId="{13BB46B1-01B8-4DDA-A911-0547ECE7FB10}" srcId="{BC336E57-CCF7-4FFC-A4E1-C613340E812E}" destId="{E9B29E6A-00AC-4AC3-91A9-1E50778B9557}" srcOrd="0" destOrd="0" parTransId="{0A2E06F3-4FEE-4C0F-BD83-C7B6E070875A}" sibTransId="{E675E441-695F-46BC-AE79-CDB7DC6D12FA}"/>
    <dgm:cxn modelId="{09A693B8-C523-4005-84B1-C6EC3471A7F2}" type="presOf" srcId="{BC336E57-CCF7-4FFC-A4E1-C613340E812E}" destId="{50DA793A-6AB0-4DCD-A961-1A72D8211BE2}" srcOrd="0" destOrd="0" presId="urn:microsoft.com/office/officeart/2005/8/layout/vList3"/>
    <dgm:cxn modelId="{EB3EE3BE-B4B2-4487-A194-7A709817C648}" type="presOf" srcId="{BAC661F7-E40B-4C4F-828B-FD0427DCE3EA}" destId="{C1A06C8C-C223-401B-A0ED-82DC8696AEEF}" srcOrd="0" destOrd="0" presId="urn:microsoft.com/office/officeart/2005/8/layout/vList3"/>
    <dgm:cxn modelId="{7717FBC1-F0B2-444C-B906-E69D446568F2}" srcId="{BC336E57-CCF7-4FFC-A4E1-C613340E812E}" destId="{5EBF5297-053B-4DF5-BADB-91F90AE14E56}" srcOrd="1" destOrd="0" parTransId="{A5FF77C9-EE21-427E-B523-B61D7BFF868E}" sibTransId="{B2BC1871-F0D4-4163-A8C3-1C792A7799C2}"/>
    <dgm:cxn modelId="{8F6B8CE1-001C-477C-8491-8D6F7A25FD34}" type="presOf" srcId="{66BF1A00-C28C-48E3-AFC9-A50BF20DA8CC}" destId="{76D4D518-7378-4A6B-9587-789909EF2E35}" srcOrd="0" destOrd="0" presId="urn:microsoft.com/office/officeart/2005/8/layout/vList3"/>
    <dgm:cxn modelId="{588A00AD-2D9E-4139-B1B2-B2F496CEAB8C}" type="presParOf" srcId="{50DA793A-6AB0-4DCD-A961-1A72D8211BE2}" destId="{179C3109-C3E8-47A7-ABCA-4F870A8C3B94}" srcOrd="0" destOrd="0" presId="urn:microsoft.com/office/officeart/2005/8/layout/vList3"/>
    <dgm:cxn modelId="{EA56E779-82B4-4BF0-82DD-FFA862C81519}" type="presParOf" srcId="{179C3109-C3E8-47A7-ABCA-4F870A8C3B94}" destId="{721AFC5C-E2E8-43D8-BC69-2D961844ACE6}" srcOrd="0" destOrd="0" presId="urn:microsoft.com/office/officeart/2005/8/layout/vList3"/>
    <dgm:cxn modelId="{B3AF1973-B8D5-4E75-801F-95C9FC909A40}" type="presParOf" srcId="{179C3109-C3E8-47A7-ABCA-4F870A8C3B94}" destId="{6649FCC3-4CD8-4B84-8D9E-8A8DDB9FF941}" srcOrd="1" destOrd="0" presId="urn:microsoft.com/office/officeart/2005/8/layout/vList3"/>
    <dgm:cxn modelId="{0A2CDFD7-67E7-4687-AB71-C0A877D773E0}" type="presParOf" srcId="{50DA793A-6AB0-4DCD-A961-1A72D8211BE2}" destId="{8B072441-E22F-45F0-86CD-41FE092047C3}" srcOrd="1" destOrd="0" presId="urn:microsoft.com/office/officeart/2005/8/layout/vList3"/>
    <dgm:cxn modelId="{70502663-3B10-41D7-AF89-ADA8F496B59A}" type="presParOf" srcId="{50DA793A-6AB0-4DCD-A961-1A72D8211BE2}" destId="{C9357C26-3329-4584-9DD2-D0805C1D5522}" srcOrd="2" destOrd="0" presId="urn:microsoft.com/office/officeart/2005/8/layout/vList3"/>
    <dgm:cxn modelId="{C229CC52-D2D5-480A-9F45-0C2407A8C77D}" type="presParOf" srcId="{C9357C26-3329-4584-9DD2-D0805C1D5522}" destId="{4237AD62-6C8C-45E9-B122-72400BCADE07}" srcOrd="0" destOrd="0" presId="urn:microsoft.com/office/officeart/2005/8/layout/vList3"/>
    <dgm:cxn modelId="{F9E8EA13-174D-480B-8CC3-02F509FA68C3}" type="presParOf" srcId="{C9357C26-3329-4584-9DD2-D0805C1D5522}" destId="{5825FAC8-877B-4786-995B-32D1F75A2AE2}" srcOrd="1" destOrd="0" presId="urn:microsoft.com/office/officeart/2005/8/layout/vList3"/>
    <dgm:cxn modelId="{6D8927B9-6FA6-4D81-8C47-4F560B47BF4D}" type="presParOf" srcId="{50DA793A-6AB0-4DCD-A961-1A72D8211BE2}" destId="{FF8C0827-CCAE-401E-8AD8-3BD5CB019DF1}" srcOrd="3" destOrd="0" presId="urn:microsoft.com/office/officeart/2005/8/layout/vList3"/>
    <dgm:cxn modelId="{3C4A67E3-D680-41A1-A6FC-746A55314B9D}" type="presParOf" srcId="{50DA793A-6AB0-4DCD-A961-1A72D8211BE2}" destId="{8C797CE6-231A-4FDE-843D-458AAAA61AFF}" srcOrd="4" destOrd="0" presId="urn:microsoft.com/office/officeart/2005/8/layout/vList3"/>
    <dgm:cxn modelId="{EAE578D2-7CF9-4517-A05A-DF2B5DFA1174}" type="presParOf" srcId="{8C797CE6-231A-4FDE-843D-458AAAA61AFF}" destId="{83848EF0-A381-44EF-B6B1-735200D4050B}" srcOrd="0" destOrd="0" presId="urn:microsoft.com/office/officeart/2005/8/layout/vList3"/>
    <dgm:cxn modelId="{42946B90-4A7A-41AB-B464-EA178A557B0B}" type="presParOf" srcId="{8C797CE6-231A-4FDE-843D-458AAAA61AFF}" destId="{C1A06C8C-C223-401B-A0ED-82DC8696AEEF}" srcOrd="1" destOrd="0" presId="urn:microsoft.com/office/officeart/2005/8/layout/vList3"/>
    <dgm:cxn modelId="{026A0318-4D42-4ED8-959A-BB66F2891C9A}" type="presParOf" srcId="{50DA793A-6AB0-4DCD-A961-1A72D8211BE2}" destId="{42CD8D89-BBBA-4340-A125-8437C029C4ED}" srcOrd="5" destOrd="0" presId="urn:microsoft.com/office/officeart/2005/8/layout/vList3"/>
    <dgm:cxn modelId="{9F1756ED-1CE4-40CB-98D7-D7921A74144F}" type="presParOf" srcId="{50DA793A-6AB0-4DCD-A961-1A72D8211BE2}" destId="{758F6F4A-53B5-4E74-B93B-ACF55F71DD70}" srcOrd="6" destOrd="0" presId="urn:microsoft.com/office/officeart/2005/8/layout/vList3"/>
    <dgm:cxn modelId="{FAAE3EAB-279D-4F64-BD7A-7C2338BE47B6}" type="presParOf" srcId="{758F6F4A-53B5-4E74-B93B-ACF55F71DD70}" destId="{3825C1CE-929E-4FD1-93DA-10E95C41EE30}" srcOrd="0" destOrd="0" presId="urn:microsoft.com/office/officeart/2005/8/layout/vList3"/>
    <dgm:cxn modelId="{A75B5BED-F474-464C-8F9D-38BE95819A96}" type="presParOf" srcId="{758F6F4A-53B5-4E74-B93B-ACF55F71DD70}" destId="{38E1ED80-2C0C-4E64-B5C7-6A50794F8578}" srcOrd="1" destOrd="0" presId="urn:microsoft.com/office/officeart/2005/8/layout/vList3"/>
    <dgm:cxn modelId="{D894AEAB-B996-4CA8-B499-8793B1498462}" type="presParOf" srcId="{50DA793A-6AB0-4DCD-A961-1A72D8211BE2}" destId="{7B6B30D5-ADE9-4237-AADC-005316525AD4}" srcOrd="7" destOrd="0" presId="urn:microsoft.com/office/officeart/2005/8/layout/vList3"/>
    <dgm:cxn modelId="{2B5F70CD-A2DF-48B1-BA2A-D136C03CA666}" type="presParOf" srcId="{50DA793A-6AB0-4DCD-A961-1A72D8211BE2}" destId="{59884AD9-032D-4213-A7D5-206CCA4863C6}" srcOrd="8" destOrd="0" presId="urn:microsoft.com/office/officeart/2005/8/layout/vList3"/>
    <dgm:cxn modelId="{EAF172AF-BAF5-4880-83DE-36CAADF74CBA}" type="presParOf" srcId="{59884AD9-032D-4213-A7D5-206CCA4863C6}" destId="{94CC8E7D-D894-4BBA-9647-071157027683}" srcOrd="0" destOrd="0" presId="urn:microsoft.com/office/officeart/2005/8/layout/vList3"/>
    <dgm:cxn modelId="{D6CDD9A0-66A6-4EE6-B0B2-91C8696A0F24}" type="presParOf" srcId="{59884AD9-032D-4213-A7D5-206CCA4863C6}" destId="{76D4D518-7378-4A6B-9587-789909EF2E35}"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49FCC3-4CD8-4B84-8D9E-8A8DDB9FF941}">
      <dsp:nvSpPr>
        <dsp:cNvPr id="0" name=""/>
        <dsp:cNvSpPr/>
      </dsp:nvSpPr>
      <dsp:spPr>
        <a:xfrm rot="10800000">
          <a:off x="1998311" y="1728"/>
          <a:ext cx="7348663" cy="589328"/>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878" tIns="60960" rIns="113792" bIns="60960" numCol="1" spcCol="1270" anchor="ctr" anchorCtr="0">
          <a:noAutofit/>
        </a:bodyPr>
        <a:lstStyle/>
        <a:p>
          <a:pPr marL="0" lvl="0" indent="0" algn="ctr" defTabSz="711200">
            <a:lnSpc>
              <a:spcPct val="90000"/>
            </a:lnSpc>
            <a:spcBef>
              <a:spcPct val="0"/>
            </a:spcBef>
            <a:spcAft>
              <a:spcPct val="35000"/>
            </a:spcAft>
            <a:buNone/>
          </a:pPr>
          <a:r>
            <a:rPr lang="en-US" sz="1600" kern="1200"/>
            <a:t>• A time series forecasting model to predict AQI and key pollutants (PM2.5, PM10, NO2, etc.). </a:t>
          </a:r>
          <a:endParaRPr lang="en-IN" sz="1600" kern="1200"/>
        </a:p>
      </dsp:txBody>
      <dsp:txXfrm rot="10800000">
        <a:off x="2145643" y="1728"/>
        <a:ext cx="7201331" cy="589328"/>
      </dsp:txXfrm>
    </dsp:sp>
    <dsp:sp modelId="{721AFC5C-E2E8-43D8-BC69-2D961844ACE6}">
      <dsp:nvSpPr>
        <dsp:cNvPr id="0" name=""/>
        <dsp:cNvSpPr/>
      </dsp:nvSpPr>
      <dsp:spPr>
        <a:xfrm>
          <a:off x="1703646" y="1728"/>
          <a:ext cx="589328" cy="589328"/>
        </a:xfrm>
        <a:prstGeom prst="ellipse">
          <a:avLst/>
        </a:prstGeom>
        <a:blipFill>
          <a:blip xmlns:r="http://schemas.openxmlformats.org/officeDocument/2006/relationships" r:embed="rId1">
            <a:extLst>
              <a:ext uri="{28A0092B-C50C-407E-A947-70E740481C1C}">
                <a14:useLocalDpi xmlns:a14="http://schemas.microsoft.com/office/drawing/2010/main" val="0"/>
              </a:ext>
              <a:ext uri="{837473B0-CC2E-450A-ABE3-18F120FF3D39}">
                <a1611:picAttrSrcUrl xmlns:a1611="http://schemas.microsoft.com/office/drawing/2016/11/main" r:id="rId2"/>
              </a:ext>
            </a:extLst>
          </a:blip>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825FAC8-877B-4786-995B-32D1F75A2AE2}">
      <dsp:nvSpPr>
        <dsp:cNvPr id="0" name=""/>
        <dsp:cNvSpPr/>
      </dsp:nvSpPr>
      <dsp:spPr>
        <a:xfrm rot="10800000">
          <a:off x="1998311" y="738389"/>
          <a:ext cx="7348663" cy="589328"/>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878" tIns="60960" rIns="113792" bIns="60960" numCol="1" spcCol="1270" anchor="ctr" anchorCtr="0">
          <a:noAutofit/>
        </a:bodyPr>
        <a:lstStyle/>
        <a:p>
          <a:pPr marL="0" lvl="0" indent="0" algn="ctr" defTabSz="711200">
            <a:lnSpc>
              <a:spcPct val="90000"/>
            </a:lnSpc>
            <a:spcBef>
              <a:spcPct val="0"/>
            </a:spcBef>
            <a:spcAft>
              <a:spcPct val="35000"/>
            </a:spcAft>
            <a:buNone/>
          </a:pPr>
          <a:r>
            <a:rPr lang="en-US" sz="1600" kern="1200"/>
            <a:t>• Visual dashboard showing historical trends and future air quality predictions. </a:t>
          </a:r>
          <a:endParaRPr lang="en-IN" sz="1600" kern="1200"/>
        </a:p>
      </dsp:txBody>
      <dsp:txXfrm rot="10800000">
        <a:off x="2145643" y="738389"/>
        <a:ext cx="7201331" cy="589328"/>
      </dsp:txXfrm>
    </dsp:sp>
    <dsp:sp modelId="{4237AD62-6C8C-45E9-B122-72400BCADE07}">
      <dsp:nvSpPr>
        <dsp:cNvPr id="0" name=""/>
        <dsp:cNvSpPr/>
      </dsp:nvSpPr>
      <dsp:spPr>
        <a:xfrm>
          <a:off x="1703646" y="738389"/>
          <a:ext cx="589328" cy="589328"/>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33000" r="-33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1A06C8C-C223-401B-A0ED-82DC8696AEEF}">
      <dsp:nvSpPr>
        <dsp:cNvPr id="0" name=""/>
        <dsp:cNvSpPr/>
      </dsp:nvSpPr>
      <dsp:spPr>
        <a:xfrm rot="10800000">
          <a:off x="1998311" y="1475050"/>
          <a:ext cx="7348663" cy="589328"/>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878" tIns="60960" rIns="113792" bIns="60960" numCol="1" spcCol="1270" anchor="ctr" anchorCtr="0">
          <a:noAutofit/>
        </a:bodyPr>
        <a:lstStyle/>
        <a:p>
          <a:pPr marL="0" lvl="0" indent="0" algn="ctr" defTabSz="711200">
            <a:lnSpc>
              <a:spcPct val="90000"/>
            </a:lnSpc>
            <a:spcBef>
              <a:spcPct val="0"/>
            </a:spcBef>
            <a:spcAft>
              <a:spcPct val="35000"/>
            </a:spcAft>
            <a:buNone/>
          </a:pPr>
          <a:r>
            <a:rPr lang="en-US" sz="1600" kern="1200"/>
            <a:t>• Alerts or warnings when predicted AQI crosses safety thresholds. </a:t>
          </a:r>
          <a:endParaRPr lang="en-IN" sz="1600" kern="1200"/>
        </a:p>
      </dsp:txBody>
      <dsp:txXfrm rot="10800000">
        <a:off x="2145643" y="1475050"/>
        <a:ext cx="7201331" cy="589328"/>
      </dsp:txXfrm>
    </dsp:sp>
    <dsp:sp modelId="{83848EF0-A381-44EF-B6B1-735200D4050B}">
      <dsp:nvSpPr>
        <dsp:cNvPr id="0" name=""/>
        <dsp:cNvSpPr/>
      </dsp:nvSpPr>
      <dsp:spPr>
        <a:xfrm>
          <a:off x="1703646" y="1475050"/>
          <a:ext cx="589328" cy="589328"/>
        </a:xfrm>
        <a:prstGeom prst="ellipse">
          <a:avLst/>
        </a:prstGeom>
        <a:blipFill>
          <a:blip xmlns:r="http://schemas.openxmlformats.org/officeDocument/2006/relationships"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a:stretch>
            <a:fillRect l="-7000" r="-7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8E1ED80-2C0C-4E64-B5C7-6A50794F8578}">
      <dsp:nvSpPr>
        <dsp:cNvPr id="0" name=""/>
        <dsp:cNvSpPr/>
      </dsp:nvSpPr>
      <dsp:spPr>
        <a:xfrm rot="10800000">
          <a:off x="1998311" y="2211711"/>
          <a:ext cx="7348663" cy="589328"/>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878" tIns="60960" rIns="113792" bIns="60960" numCol="1" spcCol="1270" anchor="ctr" anchorCtr="0">
          <a:noAutofit/>
        </a:bodyPr>
        <a:lstStyle/>
        <a:p>
          <a:pPr marL="0" lvl="0" indent="0" algn="ctr" defTabSz="711200">
            <a:lnSpc>
              <a:spcPct val="90000"/>
            </a:lnSpc>
            <a:spcBef>
              <a:spcPct val="0"/>
            </a:spcBef>
            <a:spcAft>
              <a:spcPct val="35000"/>
            </a:spcAft>
            <a:buNone/>
          </a:pPr>
          <a:r>
            <a:rPr lang="en-US" sz="1600" kern="1200"/>
            <a:t>• Ability to analyze pollutant contributions and seasonal trends. </a:t>
          </a:r>
          <a:endParaRPr lang="en-IN" sz="1600" kern="1200"/>
        </a:p>
      </dsp:txBody>
      <dsp:txXfrm rot="10800000">
        <a:off x="2145643" y="2211711"/>
        <a:ext cx="7201331" cy="589328"/>
      </dsp:txXfrm>
    </dsp:sp>
    <dsp:sp modelId="{3825C1CE-929E-4FD1-93DA-10E95C41EE30}">
      <dsp:nvSpPr>
        <dsp:cNvPr id="0" name=""/>
        <dsp:cNvSpPr/>
      </dsp:nvSpPr>
      <dsp:spPr>
        <a:xfrm>
          <a:off x="1703646" y="2211711"/>
          <a:ext cx="589328" cy="589328"/>
        </a:xfrm>
        <a:prstGeom prst="ellipse">
          <a:avLst/>
        </a:prstGeom>
        <a:blipFill>
          <a:blip xmlns:r="http://schemas.openxmlformats.org/officeDocument/2006/relationships"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6D4D518-7378-4A6B-9587-789909EF2E35}">
      <dsp:nvSpPr>
        <dsp:cNvPr id="0" name=""/>
        <dsp:cNvSpPr/>
      </dsp:nvSpPr>
      <dsp:spPr>
        <a:xfrm rot="10800000">
          <a:off x="1998311" y="2948372"/>
          <a:ext cx="7348663" cy="589328"/>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878" tIns="60960" rIns="113792" bIns="60960" numCol="1" spcCol="1270" anchor="ctr" anchorCtr="0">
          <a:noAutofit/>
        </a:bodyPr>
        <a:lstStyle/>
        <a:p>
          <a:pPr marL="0" lvl="0" indent="0" algn="ctr" defTabSz="711200">
            <a:lnSpc>
              <a:spcPct val="90000"/>
            </a:lnSpc>
            <a:spcBef>
              <a:spcPct val="0"/>
            </a:spcBef>
            <a:spcAft>
              <a:spcPct val="35000"/>
            </a:spcAft>
            <a:buNone/>
          </a:pPr>
          <a:r>
            <a:rPr lang="en-US" sz="1600" kern="1200"/>
            <a:t>• Admin functionality to upload new datasets and retrain models for updated forecasting. </a:t>
          </a:r>
          <a:endParaRPr lang="en-IN" sz="1600" kern="1200"/>
        </a:p>
      </dsp:txBody>
      <dsp:txXfrm rot="10800000">
        <a:off x="2145643" y="2948372"/>
        <a:ext cx="7201331" cy="589328"/>
      </dsp:txXfrm>
    </dsp:sp>
    <dsp:sp modelId="{94CC8E7D-D894-4BBA-9647-071157027683}">
      <dsp:nvSpPr>
        <dsp:cNvPr id="0" name=""/>
        <dsp:cNvSpPr/>
      </dsp:nvSpPr>
      <dsp:spPr>
        <a:xfrm>
          <a:off x="1703646" y="2948372"/>
          <a:ext cx="589328" cy="589328"/>
        </a:xfrm>
        <a:prstGeom prst="ellipse">
          <a:avLst/>
        </a:prstGeom>
        <a:blipFill>
          <a:blip xmlns:r="http://schemas.openxmlformats.org/officeDocument/2006/relationships"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a:stretch>
            <a:fillRect t="-12000" b="-12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601C2-548B-4672-9A65-546ADF2F3E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BD7E267-6A3F-47AB-A74F-B89B3F15B1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53EBE5E-B239-4EDF-9554-210EB5532F82}"/>
              </a:ext>
            </a:extLst>
          </p:cNvPr>
          <p:cNvSpPr>
            <a:spLocks noGrp="1"/>
          </p:cNvSpPr>
          <p:nvPr>
            <p:ph type="dt" sz="half" idx="10"/>
          </p:nvPr>
        </p:nvSpPr>
        <p:spPr/>
        <p:txBody>
          <a:bodyPr/>
          <a:lstStyle/>
          <a:p>
            <a:fld id="{57735CD3-1A60-444F-BB64-D6DE1B421772}" type="datetimeFigureOut">
              <a:rPr lang="en-IN" smtClean="0"/>
              <a:t>09-10-2025</a:t>
            </a:fld>
            <a:endParaRPr lang="en-IN"/>
          </a:p>
        </p:txBody>
      </p:sp>
      <p:sp>
        <p:nvSpPr>
          <p:cNvPr id="5" name="Footer Placeholder 4">
            <a:extLst>
              <a:ext uri="{FF2B5EF4-FFF2-40B4-BE49-F238E27FC236}">
                <a16:creationId xmlns:a16="http://schemas.microsoft.com/office/drawing/2014/main" id="{8F72BC72-151F-4A8E-8716-8BC10163D0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669B9F-D24F-45C7-8C44-6ECCA6E6744D}"/>
              </a:ext>
            </a:extLst>
          </p:cNvPr>
          <p:cNvSpPr>
            <a:spLocks noGrp="1"/>
          </p:cNvSpPr>
          <p:nvPr>
            <p:ph type="sldNum" sz="quarter" idx="12"/>
          </p:nvPr>
        </p:nvSpPr>
        <p:spPr/>
        <p:txBody>
          <a:bodyPr/>
          <a:lstStyle/>
          <a:p>
            <a:fld id="{814A5878-D356-43DD-B178-4A514967DCEA}" type="slidenum">
              <a:rPr lang="en-IN" smtClean="0"/>
              <a:t>‹#›</a:t>
            </a:fld>
            <a:endParaRPr lang="en-IN"/>
          </a:p>
        </p:txBody>
      </p:sp>
    </p:spTree>
    <p:extLst>
      <p:ext uri="{BB962C8B-B14F-4D97-AF65-F5344CB8AC3E}">
        <p14:creationId xmlns:p14="http://schemas.microsoft.com/office/powerpoint/2010/main" val="475024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4B31D-6EA9-4EFB-865F-289BA9B26EF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32731DA-6BEF-4907-B099-82DE346037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345346-8CFA-43E4-9761-6D4C65C42E94}"/>
              </a:ext>
            </a:extLst>
          </p:cNvPr>
          <p:cNvSpPr>
            <a:spLocks noGrp="1"/>
          </p:cNvSpPr>
          <p:nvPr>
            <p:ph type="dt" sz="half" idx="10"/>
          </p:nvPr>
        </p:nvSpPr>
        <p:spPr/>
        <p:txBody>
          <a:bodyPr/>
          <a:lstStyle/>
          <a:p>
            <a:fld id="{57735CD3-1A60-444F-BB64-D6DE1B421772}" type="datetimeFigureOut">
              <a:rPr lang="en-IN" smtClean="0"/>
              <a:t>09-10-2025</a:t>
            </a:fld>
            <a:endParaRPr lang="en-IN"/>
          </a:p>
        </p:txBody>
      </p:sp>
      <p:sp>
        <p:nvSpPr>
          <p:cNvPr id="5" name="Footer Placeholder 4">
            <a:extLst>
              <a:ext uri="{FF2B5EF4-FFF2-40B4-BE49-F238E27FC236}">
                <a16:creationId xmlns:a16="http://schemas.microsoft.com/office/drawing/2014/main" id="{48F9B06F-FC49-4150-9E6E-D9E87F9EB4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4E7CFD-846B-45A6-B313-1E0505E44133}"/>
              </a:ext>
            </a:extLst>
          </p:cNvPr>
          <p:cNvSpPr>
            <a:spLocks noGrp="1"/>
          </p:cNvSpPr>
          <p:nvPr>
            <p:ph type="sldNum" sz="quarter" idx="12"/>
          </p:nvPr>
        </p:nvSpPr>
        <p:spPr/>
        <p:txBody>
          <a:bodyPr/>
          <a:lstStyle/>
          <a:p>
            <a:fld id="{814A5878-D356-43DD-B178-4A514967DCEA}" type="slidenum">
              <a:rPr lang="en-IN" smtClean="0"/>
              <a:t>‹#›</a:t>
            </a:fld>
            <a:endParaRPr lang="en-IN"/>
          </a:p>
        </p:txBody>
      </p:sp>
    </p:spTree>
    <p:extLst>
      <p:ext uri="{BB962C8B-B14F-4D97-AF65-F5344CB8AC3E}">
        <p14:creationId xmlns:p14="http://schemas.microsoft.com/office/powerpoint/2010/main" val="2013508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0B50D-B326-4366-A473-CB26A4FB34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A3FB16C-2F05-45A7-96A3-AA47003DF8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311705-47E3-4BFE-8684-3CE31B4A5916}"/>
              </a:ext>
            </a:extLst>
          </p:cNvPr>
          <p:cNvSpPr>
            <a:spLocks noGrp="1"/>
          </p:cNvSpPr>
          <p:nvPr>
            <p:ph type="dt" sz="half" idx="10"/>
          </p:nvPr>
        </p:nvSpPr>
        <p:spPr/>
        <p:txBody>
          <a:bodyPr/>
          <a:lstStyle/>
          <a:p>
            <a:fld id="{57735CD3-1A60-444F-BB64-D6DE1B421772}" type="datetimeFigureOut">
              <a:rPr lang="en-IN" smtClean="0"/>
              <a:t>09-10-2025</a:t>
            </a:fld>
            <a:endParaRPr lang="en-IN"/>
          </a:p>
        </p:txBody>
      </p:sp>
      <p:sp>
        <p:nvSpPr>
          <p:cNvPr id="5" name="Footer Placeholder 4">
            <a:extLst>
              <a:ext uri="{FF2B5EF4-FFF2-40B4-BE49-F238E27FC236}">
                <a16:creationId xmlns:a16="http://schemas.microsoft.com/office/drawing/2014/main" id="{0AA69831-D20B-46C1-812A-50AA4008CD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8B33D7-B548-4D8F-8410-832859A5FF0C}"/>
              </a:ext>
            </a:extLst>
          </p:cNvPr>
          <p:cNvSpPr>
            <a:spLocks noGrp="1"/>
          </p:cNvSpPr>
          <p:nvPr>
            <p:ph type="sldNum" sz="quarter" idx="12"/>
          </p:nvPr>
        </p:nvSpPr>
        <p:spPr/>
        <p:txBody>
          <a:bodyPr/>
          <a:lstStyle/>
          <a:p>
            <a:fld id="{814A5878-D356-43DD-B178-4A514967DCEA}" type="slidenum">
              <a:rPr lang="en-IN" smtClean="0"/>
              <a:t>‹#›</a:t>
            </a:fld>
            <a:endParaRPr lang="en-IN"/>
          </a:p>
        </p:txBody>
      </p:sp>
    </p:spTree>
    <p:extLst>
      <p:ext uri="{BB962C8B-B14F-4D97-AF65-F5344CB8AC3E}">
        <p14:creationId xmlns:p14="http://schemas.microsoft.com/office/powerpoint/2010/main" val="747616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47F5E-F441-4C6E-869E-71AB2CA57F3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1384EE-54C6-4B04-9AB9-F64BD1E064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5B60DD4-2753-49B6-AC18-A29F3DEA14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074D9A2-3231-4F42-8707-787B60769EF8}"/>
              </a:ext>
            </a:extLst>
          </p:cNvPr>
          <p:cNvSpPr>
            <a:spLocks noGrp="1"/>
          </p:cNvSpPr>
          <p:nvPr>
            <p:ph type="dt" sz="half" idx="10"/>
          </p:nvPr>
        </p:nvSpPr>
        <p:spPr/>
        <p:txBody>
          <a:bodyPr/>
          <a:lstStyle/>
          <a:p>
            <a:fld id="{57735CD3-1A60-444F-BB64-D6DE1B421772}" type="datetimeFigureOut">
              <a:rPr lang="en-IN" smtClean="0"/>
              <a:t>09-10-2025</a:t>
            </a:fld>
            <a:endParaRPr lang="en-IN"/>
          </a:p>
        </p:txBody>
      </p:sp>
      <p:sp>
        <p:nvSpPr>
          <p:cNvPr id="6" name="Footer Placeholder 5">
            <a:extLst>
              <a:ext uri="{FF2B5EF4-FFF2-40B4-BE49-F238E27FC236}">
                <a16:creationId xmlns:a16="http://schemas.microsoft.com/office/drawing/2014/main" id="{B80B3D24-92CC-4E8D-AC71-38145C962E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D3642A-78A3-4788-9239-E112839B839C}"/>
              </a:ext>
            </a:extLst>
          </p:cNvPr>
          <p:cNvSpPr>
            <a:spLocks noGrp="1"/>
          </p:cNvSpPr>
          <p:nvPr>
            <p:ph type="sldNum" sz="quarter" idx="12"/>
          </p:nvPr>
        </p:nvSpPr>
        <p:spPr/>
        <p:txBody>
          <a:bodyPr/>
          <a:lstStyle/>
          <a:p>
            <a:fld id="{814A5878-D356-43DD-B178-4A514967DCEA}" type="slidenum">
              <a:rPr lang="en-IN" smtClean="0"/>
              <a:t>‹#›</a:t>
            </a:fld>
            <a:endParaRPr lang="en-IN"/>
          </a:p>
        </p:txBody>
      </p:sp>
    </p:spTree>
    <p:extLst>
      <p:ext uri="{BB962C8B-B14F-4D97-AF65-F5344CB8AC3E}">
        <p14:creationId xmlns:p14="http://schemas.microsoft.com/office/powerpoint/2010/main" val="20767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AE76C-335B-4C42-BFCE-C80EEB89614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162A36-9589-492A-A765-9A7DB41E2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A07DD9-3ED4-439B-B48B-D90C5316D1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EA2751E-3228-4ACD-96B7-576FD6C548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2F74F6-3341-4A4D-B8F0-741D0AA2CE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9540BA1-BB50-4FEB-900D-5DC164948739}"/>
              </a:ext>
            </a:extLst>
          </p:cNvPr>
          <p:cNvSpPr>
            <a:spLocks noGrp="1"/>
          </p:cNvSpPr>
          <p:nvPr>
            <p:ph type="dt" sz="half" idx="10"/>
          </p:nvPr>
        </p:nvSpPr>
        <p:spPr/>
        <p:txBody>
          <a:bodyPr/>
          <a:lstStyle/>
          <a:p>
            <a:fld id="{57735CD3-1A60-444F-BB64-D6DE1B421772}" type="datetimeFigureOut">
              <a:rPr lang="en-IN" smtClean="0"/>
              <a:t>09-10-2025</a:t>
            </a:fld>
            <a:endParaRPr lang="en-IN"/>
          </a:p>
        </p:txBody>
      </p:sp>
      <p:sp>
        <p:nvSpPr>
          <p:cNvPr id="8" name="Footer Placeholder 7">
            <a:extLst>
              <a:ext uri="{FF2B5EF4-FFF2-40B4-BE49-F238E27FC236}">
                <a16:creationId xmlns:a16="http://schemas.microsoft.com/office/drawing/2014/main" id="{D97C1E20-972E-4FB7-A909-48E823B506A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5F085A5-30BD-42E6-908F-4C8626B2A836}"/>
              </a:ext>
            </a:extLst>
          </p:cNvPr>
          <p:cNvSpPr>
            <a:spLocks noGrp="1"/>
          </p:cNvSpPr>
          <p:nvPr>
            <p:ph type="sldNum" sz="quarter" idx="12"/>
          </p:nvPr>
        </p:nvSpPr>
        <p:spPr/>
        <p:txBody>
          <a:bodyPr/>
          <a:lstStyle/>
          <a:p>
            <a:fld id="{814A5878-D356-43DD-B178-4A514967DCEA}" type="slidenum">
              <a:rPr lang="en-IN" smtClean="0"/>
              <a:t>‹#›</a:t>
            </a:fld>
            <a:endParaRPr lang="en-IN"/>
          </a:p>
        </p:txBody>
      </p:sp>
    </p:spTree>
    <p:extLst>
      <p:ext uri="{BB962C8B-B14F-4D97-AF65-F5344CB8AC3E}">
        <p14:creationId xmlns:p14="http://schemas.microsoft.com/office/powerpoint/2010/main" val="1887992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0BE0B-8244-4495-BF2F-FEDD765B515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7F6C69D-2EBE-4FB8-9718-2DC4FC5D1D0E}"/>
              </a:ext>
            </a:extLst>
          </p:cNvPr>
          <p:cNvSpPr>
            <a:spLocks noGrp="1"/>
          </p:cNvSpPr>
          <p:nvPr>
            <p:ph type="dt" sz="half" idx="10"/>
          </p:nvPr>
        </p:nvSpPr>
        <p:spPr/>
        <p:txBody>
          <a:bodyPr/>
          <a:lstStyle/>
          <a:p>
            <a:fld id="{57735CD3-1A60-444F-BB64-D6DE1B421772}" type="datetimeFigureOut">
              <a:rPr lang="en-IN" smtClean="0"/>
              <a:t>09-10-2025</a:t>
            </a:fld>
            <a:endParaRPr lang="en-IN"/>
          </a:p>
        </p:txBody>
      </p:sp>
      <p:sp>
        <p:nvSpPr>
          <p:cNvPr id="4" name="Footer Placeholder 3">
            <a:extLst>
              <a:ext uri="{FF2B5EF4-FFF2-40B4-BE49-F238E27FC236}">
                <a16:creationId xmlns:a16="http://schemas.microsoft.com/office/drawing/2014/main" id="{E21316F8-D19F-45F8-B625-09D98DFE900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61EC7A0-069A-4D8B-B53C-B3D2DD3D1348}"/>
              </a:ext>
            </a:extLst>
          </p:cNvPr>
          <p:cNvSpPr>
            <a:spLocks noGrp="1"/>
          </p:cNvSpPr>
          <p:nvPr>
            <p:ph type="sldNum" sz="quarter" idx="12"/>
          </p:nvPr>
        </p:nvSpPr>
        <p:spPr/>
        <p:txBody>
          <a:bodyPr/>
          <a:lstStyle/>
          <a:p>
            <a:fld id="{814A5878-D356-43DD-B178-4A514967DCEA}" type="slidenum">
              <a:rPr lang="en-IN" smtClean="0"/>
              <a:t>‹#›</a:t>
            </a:fld>
            <a:endParaRPr lang="en-IN"/>
          </a:p>
        </p:txBody>
      </p:sp>
    </p:spTree>
    <p:extLst>
      <p:ext uri="{BB962C8B-B14F-4D97-AF65-F5344CB8AC3E}">
        <p14:creationId xmlns:p14="http://schemas.microsoft.com/office/powerpoint/2010/main" val="1009511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90D281-1B44-41A6-B4A1-2DC418234CA7}"/>
              </a:ext>
            </a:extLst>
          </p:cNvPr>
          <p:cNvSpPr>
            <a:spLocks noGrp="1"/>
          </p:cNvSpPr>
          <p:nvPr>
            <p:ph type="dt" sz="half" idx="10"/>
          </p:nvPr>
        </p:nvSpPr>
        <p:spPr/>
        <p:txBody>
          <a:bodyPr/>
          <a:lstStyle/>
          <a:p>
            <a:fld id="{57735CD3-1A60-444F-BB64-D6DE1B421772}" type="datetimeFigureOut">
              <a:rPr lang="en-IN" smtClean="0"/>
              <a:t>09-10-2025</a:t>
            </a:fld>
            <a:endParaRPr lang="en-IN"/>
          </a:p>
        </p:txBody>
      </p:sp>
      <p:sp>
        <p:nvSpPr>
          <p:cNvPr id="3" name="Footer Placeholder 2">
            <a:extLst>
              <a:ext uri="{FF2B5EF4-FFF2-40B4-BE49-F238E27FC236}">
                <a16:creationId xmlns:a16="http://schemas.microsoft.com/office/drawing/2014/main" id="{BAEB3C32-CF9F-4984-85C6-68718237B5B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7743945-6FB0-4A55-8609-1F3F7582D874}"/>
              </a:ext>
            </a:extLst>
          </p:cNvPr>
          <p:cNvSpPr>
            <a:spLocks noGrp="1"/>
          </p:cNvSpPr>
          <p:nvPr>
            <p:ph type="sldNum" sz="quarter" idx="12"/>
          </p:nvPr>
        </p:nvSpPr>
        <p:spPr/>
        <p:txBody>
          <a:bodyPr/>
          <a:lstStyle/>
          <a:p>
            <a:fld id="{814A5878-D356-43DD-B178-4A514967DCEA}" type="slidenum">
              <a:rPr lang="en-IN" smtClean="0"/>
              <a:t>‹#›</a:t>
            </a:fld>
            <a:endParaRPr lang="en-IN"/>
          </a:p>
        </p:txBody>
      </p:sp>
    </p:spTree>
    <p:extLst>
      <p:ext uri="{BB962C8B-B14F-4D97-AF65-F5344CB8AC3E}">
        <p14:creationId xmlns:p14="http://schemas.microsoft.com/office/powerpoint/2010/main" val="759238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951E6-C232-48AD-B6DB-FF3CAF3D42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126879D-8A2D-4B9D-A6AC-2C3F7EB76F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39BED1C-A9AC-4E2B-8843-DAED24F1F9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761E50-CE12-43B4-BEB5-D4C2CCE8669A}"/>
              </a:ext>
            </a:extLst>
          </p:cNvPr>
          <p:cNvSpPr>
            <a:spLocks noGrp="1"/>
          </p:cNvSpPr>
          <p:nvPr>
            <p:ph type="dt" sz="half" idx="10"/>
          </p:nvPr>
        </p:nvSpPr>
        <p:spPr/>
        <p:txBody>
          <a:bodyPr/>
          <a:lstStyle/>
          <a:p>
            <a:fld id="{57735CD3-1A60-444F-BB64-D6DE1B421772}" type="datetimeFigureOut">
              <a:rPr lang="en-IN" smtClean="0"/>
              <a:t>09-10-2025</a:t>
            </a:fld>
            <a:endParaRPr lang="en-IN"/>
          </a:p>
        </p:txBody>
      </p:sp>
      <p:sp>
        <p:nvSpPr>
          <p:cNvPr id="6" name="Footer Placeholder 5">
            <a:extLst>
              <a:ext uri="{FF2B5EF4-FFF2-40B4-BE49-F238E27FC236}">
                <a16:creationId xmlns:a16="http://schemas.microsoft.com/office/drawing/2014/main" id="{FC8D0E01-E927-455F-891F-D2D7B9C1F5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8229B1-ED08-470D-94D4-F98FD43142E8}"/>
              </a:ext>
            </a:extLst>
          </p:cNvPr>
          <p:cNvSpPr>
            <a:spLocks noGrp="1"/>
          </p:cNvSpPr>
          <p:nvPr>
            <p:ph type="sldNum" sz="quarter" idx="12"/>
          </p:nvPr>
        </p:nvSpPr>
        <p:spPr/>
        <p:txBody>
          <a:bodyPr/>
          <a:lstStyle/>
          <a:p>
            <a:fld id="{814A5878-D356-43DD-B178-4A514967DCEA}" type="slidenum">
              <a:rPr lang="en-IN" smtClean="0"/>
              <a:t>‹#›</a:t>
            </a:fld>
            <a:endParaRPr lang="en-IN"/>
          </a:p>
        </p:txBody>
      </p:sp>
    </p:spTree>
    <p:extLst>
      <p:ext uri="{BB962C8B-B14F-4D97-AF65-F5344CB8AC3E}">
        <p14:creationId xmlns:p14="http://schemas.microsoft.com/office/powerpoint/2010/main" val="2453241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DA577-E13B-4A16-AEC7-B7F2D96D8C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3B247FC-0F63-43F6-8082-4CE5F0A338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FC1600F-177F-44F6-85FD-C07C65E5CA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DF1E70-5AEE-452F-8ED1-F45EECA4FF03}"/>
              </a:ext>
            </a:extLst>
          </p:cNvPr>
          <p:cNvSpPr>
            <a:spLocks noGrp="1"/>
          </p:cNvSpPr>
          <p:nvPr>
            <p:ph type="dt" sz="half" idx="10"/>
          </p:nvPr>
        </p:nvSpPr>
        <p:spPr/>
        <p:txBody>
          <a:bodyPr/>
          <a:lstStyle/>
          <a:p>
            <a:fld id="{57735CD3-1A60-444F-BB64-D6DE1B421772}" type="datetimeFigureOut">
              <a:rPr lang="en-IN" smtClean="0"/>
              <a:t>09-10-2025</a:t>
            </a:fld>
            <a:endParaRPr lang="en-IN"/>
          </a:p>
        </p:txBody>
      </p:sp>
      <p:sp>
        <p:nvSpPr>
          <p:cNvPr id="6" name="Footer Placeholder 5">
            <a:extLst>
              <a:ext uri="{FF2B5EF4-FFF2-40B4-BE49-F238E27FC236}">
                <a16:creationId xmlns:a16="http://schemas.microsoft.com/office/drawing/2014/main" id="{0345D42A-C3D3-4894-A137-F043828354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4E4EDC-13F0-43F6-9818-FC01A0F3CF5A}"/>
              </a:ext>
            </a:extLst>
          </p:cNvPr>
          <p:cNvSpPr>
            <a:spLocks noGrp="1"/>
          </p:cNvSpPr>
          <p:nvPr>
            <p:ph type="sldNum" sz="quarter" idx="12"/>
          </p:nvPr>
        </p:nvSpPr>
        <p:spPr/>
        <p:txBody>
          <a:bodyPr/>
          <a:lstStyle/>
          <a:p>
            <a:fld id="{814A5878-D356-43DD-B178-4A514967DCEA}" type="slidenum">
              <a:rPr lang="en-IN" smtClean="0"/>
              <a:t>‹#›</a:t>
            </a:fld>
            <a:endParaRPr lang="en-IN"/>
          </a:p>
        </p:txBody>
      </p:sp>
    </p:spTree>
    <p:extLst>
      <p:ext uri="{BB962C8B-B14F-4D97-AF65-F5344CB8AC3E}">
        <p14:creationId xmlns:p14="http://schemas.microsoft.com/office/powerpoint/2010/main" val="2167801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E5BF4-CAD0-422A-8561-1654B5EA842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7407BD-AE8B-4783-B245-71DFF799A4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6C7DE6-1BC6-44CE-84DB-6C377D1351FC}"/>
              </a:ext>
            </a:extLst>
          </p:cNvPr>
          <p:cNvSpPr>
            <a:spLocks noGrp="1"/>
          </p:cNvSpPr>
          <p:nvPr>
            <p:ph type="dt" sz="half" idx="10"/>
          </p:nvPr>
        </p:nvSpPr>
        <p:spPr/>
        <p:txBody>
          <a:bodyPr/>
          <a:lstStyle/>
          <a:p>
            <a:fld id="{57735CD3-1A60-444F-BB64-D6DE1B421772}" type="datetimeFigureOut">
              <a:rPr lang="en-IN" smtClean="0"/>
              <a:t>09-10-2025</a:t>
            </a:fld>
            <a:endParaRPr lang="en-IN"/>
          </a:p>
        </p:txBody>
      </p:sp>
      <p:sp>
        <p:nvSpPr>
          <p:cNvPr id="5" name="Footer Placeholder 4">
            <a:extLst>
              <a:ext uri="{FF2B5EF4-FFF2-40B4-BE49-F238E27FC236}">
                <a16:creationId xmlns:a16="http://schemas.microsoft.com/office/drawing/2014/main" id="{BE5CB3A5-2CE3-43B4-8B1E-C6A62B4694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B9CFD3-EB1A-43F4-AF78-CDC1C94F550F}"/>
              </a:ext>
            </a:extLst>
          </p:cNvPr>
          <p:cNvSpPr>
            <a:spLocks noGrp="1"/>
          </p:cNvSpPr>
          <p:nvPr>
            <p:ph type="sldNum" sz="quarter" idx="12"/>
          </p:nvPr>
        </p:nvSpPr>
        <p:spPr/>
        <p:txBody>
          <a:bodyPr/>
          <a:lstStyle/>
          <a:p>
            <a:fld id="{814A5878-D356-43DD-B178-4A514967DCEA}" type="slidenum">
              <a:rPr lang="en-IN" smtClean="0"/>
              <a:t>‹#›</a:t>
            </a:fld>
            <a:endParaRPr lang="en-IN"/>
          </a:p>
        </p:txBody>
      </p:sp>
    </p:spTree>
    <p:extLst>
      <p:ext uri="{BB962C8B-B14F-4D97-AF65-F5344CB8AC3E}">
        <p14:creationId xmlns:p14="http://schemas.microsoft.com/office/powerpoint/2010/main" val="4083347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5F76A2-1C79-47D0-B737-81B4529A83D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6845F7-2640-4DAD-8273-2AD1EA3902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41E6AA-EE64-40B2-A0B0-F4AA26FCFA06}"/>
              </a:ext>
            </a:extLst>
          </p:cNvPr>
          <p:cNvSpPr>
            <a:spLocks noGrp="1"/>
          </p:cNvSpPr>
          <p:nvPr>
            <p:ph type="dt" sz="half" idx="10"/>
          </p:nvPr>
        </p:nvSpPr>
        <p:spPr/>
        <p:txBody>
          <a:bodyPr/>
          <a:lstStyle/>
          <a:p>
            <a:fld id="{57735CD3-1A60-444F-BB64-D6DE1B421772}" type="datetimeFigureOut">
              <a:rPr lang="en-IN" smtClean="0"/>
              <a:t>09-10-2025</a:t>
            </a:fld>
            <a:endParaRPr lang="en-IN"/>
          </a:p>
        </p:txBody>
      </p:sp>
      <p:sp>
        <p:nvSpPr>
          <p:cNvPr id="5" name="Footer Placeholder 4">
            <a:extLst>
              <a:ext uri="{FF2B5EF4-FFF2-40B4-BE49-F238E27FC236}">
                <a16:creationId xmlns:a16="http://schemas.microsoft.com/office/drawing/2014/main" id="{1E94A0BE-6606-4160-9B3C-61F9E9D7B0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D7F9E0-9AFF-4B80-A1D1-61F027624503}"/>
              </a:ext>
            </a:extLst>
          </p:cNvPr>
          <p:cNvSpPr>
            <a:spLocks noGrp="1"/>
          </p:cNvSpPr>
          <p:nvPr>
            <p:ph type="sldNum" sz="quarter" idx="12"/>
          </p:nvPr>
        </p:nvSpPr>
        <p:spPr/>
        <p:txBody>
          <a:bodyPr/>
          <a:lstStyle/>
          <a:p>
            <a:fld id="{814A5878-D356-43DD-B178-4A514967DCEA}" type="slidenum">
              <a:rPr lang="en-IN" smtClean="0"/>
              <a:t>‹#›</a:t>
            </a:fld>
            <a:endParaRPr lang="en-IN"/>
          </a:p>
        </p:txBody>
      </p:sp>
    </p:spTree>
    <p:extLst>
      <p:ext uri="{BB962C8B-B14F-4D97-AF65-F5344CB8AC3E}">
        <p14:creationId xmlns:p14="http://schemas.microsoft.com/office/powerpoint/2010/main" val="765110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846FF8-6B09-4097-A72B-9AA86C7FDE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E1ACDAC-2EAE-456E-A3E2-EB1876D131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2BC6E0-7D76-46E5-8B68-C1803253B6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735CD3-1A60-444F-BB64-D6DE1B421772}" type="datetimeFigureOut">
              <a:rPr lang="en-IN" smtClean="0"/>
              <a:t>09-10-2025</a:t>
            </a:fld>
            <a:endParaRPr lang="en-IN"/>
          </a:p>
        </p:txBody>
      </p:sp>
      <p:sp>
        <p:nvSpPr>
          <p:cNvPr id="5" name="Footer Placeholder 4">
            <a:extLst>
              <a:ext uri="{FF2B5EF4-FFF2-40B4-BE49-F238E27FC236}">
                <a16:creationId xmlns:a16="http://schemas.microsoft.com/office/drawing/2014/main" id="{87009B52-65DA-40F5-A210-D11CC3C33E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BF192F4-F1CC-4071-8094-63C22F3CF0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4A5878-D356-43DD-B178-4A514967DCEA}" type="slidenum">
              <a:rPr lang="en-IN" smtClean="0"/>
              <a:t>‹#›</a:t>
            </a:fld>
            <a:endParaRPr lang="en-IN"/>
          </a:p>
        </p:txBody>
      </p:sp>
    </p:spTree>
    <p:extLst>
      <p:ext uri="{BB962C8B-B14F-4D97-AF65-F5344CB8AC3E}">
        <p14:creationId xmlns:p14="http://schemas.microsoft.com/office/powerpoint/2010/main" val="28275214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hyperlink" Target="https://homouniversalis.tistory.com/4" TargetMode="External"/><Relationship Id="rId13" Type="http://schemas.openxmlformats.org/officeDocument/2006/relationships/hyperlink" Target="https://creativecommons.org/licenses/by-nc-sa/3.0/" TargetMode="External"/><Relationship Id="rId3" Type="http://schemas.openxmlformats.org/officeDocument/2006/relationships/image" Target="../media/image9.jpg"/><Relationship Id="rId7" Type="http://schemas.openxmlformats.org/officeDocument/2006/relationships/image" Target="../media/image11.png"/><Relationship Id="rId12" Type="http://schemas.openxmlformats.org/officeDocument/2006/relationships/hyperlink" Target="https://escape2020.github.io/school2021/" TargetMode="External"/><Relationship Id="rId17" Type="http://schemas.openxmlformats.org/officeDocument/2006/relationships/hyperlink" Target="https://www.flickr.com/photos/xmodulo/14636491710" TargetMode="External"/><Relationship Id="rId2" Type="http://schemas.openxmlformats.org/officeDocument/2006/relationships/image" Target="../media/image1.png"/><Relationship Id="rId16" Type="http://schemas.openxmlformats.org/officeDocument/2006/relationships/image" Target="../media/image15.jpg"/><Relationship Id="rId1" Type="http://schemas.openxmlformats.org/officeDocument/2006/relationships/slideLayout" Target="../slideLayouts/slideLayout1.xml"/><Relationship Id="rId6" Type="http://schemas.openxmlformats.org/officeDocument/2006/relationships/hyperlink" Target="https://www.freesion.com/article/81652624068/" TargetMode="External"/><Relationship Id="rId11" Type="http://schemas.openxmlformats.org/officeDocument/2006/relationships/image" Target="../media/image13.png"/><Relationship Id="rId5" Type="http://schemas.openxmlformats.org/officeDocument/2006/relationships/image" Target="../media/image10.png"/><Relationship Id="rId15" Type="http://schemas.openxmlformats.org/officeDocument/2006/relationships/hyperlink" Target="https://scribblinganything.tistory.com/665" TargetMode="External"/><Relationship Id="rId10" Type="http://schemas.openxmlformats.org/officeDocument/2006/relationships/hyperlink" Target="https://uk.wikipedia.org/wiki/Pandas" TargetMode="External"/><Relationship Id="rId4" Type="http://schemas.openxmlformats.org/officeDocument/2006/relationships/hyperlink" Target="https://wsparrow.blogspot.com/2018/02/how-to-create-quiz-using-python.html" TargetMode="External"/><Relationship Id="rId9" Type="http://schemas.openxmlformats.org/officeDocument/2006/relationships/image" Target="../media/image12.png"/><Relationship Id="rId14"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aqicn.org/here" TargetMode="External"/><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hyperlink" Target="https://github.com/Parasuram2530/Infosys-Springboard.git" TargetMode="External"/><Relationship Id="rId4" Type="http://schemas.openxmlformats.org/officeDocument/2006/relationships/hyperlink" Target="https://www.sciencedirect.com/science/article/pii/S004565352301785X"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9000" r="-19000"/>
          </a:stretch>
        </a:blipFill>
        <a:effectLst/>
      </p:bgPr>
    </p:bg>
    <p:spTree>
      <p:nvGrpSpPr>
        <p:cNvPr id="1" name=""/>
        <p:cNvGrpSpPr/>
        <p:nvPr/>
      </p:nvGrpSpPr>
      <p:grpSpPr>
        <a:xfrm>
          <a:off x="0" y="0"/>
          <a:ext cx="0" cy="0"/>
          <a:chOff x="0" y="0"/>
          <a:chExt cx="0" cy="0"/>
        </a:xfrm>
      </p:grpSpPr>
      <p:pic>
        <p:nvPicPr>
          <p:cNvPr id="5" name="Picture 4" descr="Air Aware Smart Air Quality Prediction System">
            <a:extLst>
              <a:ext uri="{FF2B5EF4-FFF2-40B4-BE49-F238E27FC236}">
                <a16:creationId xmlns:a16="http://schemas.microsoft.com/office/drawing/2014/main" id="{06D7FA03-C009-4496-8636-20E4BDB84A83}"/>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50" y="1695451"/>
            <a:ext cx="6829425" cy="4867274"/>
          </a:xfrm>
          <a:prstGeom prst="round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a:extLst>
              <a:ext uri="{FF2B5EF4-FFF2-40B4-BE49-F238E27FC236}">
                <a16:creationId xmlns:a16="http://schemas.microsoft.com/office/drawing/2014/main" id="{34BFB682-B415-4532-A5C7-46899DB4B0EC}"/>
              </a:ext>
            </a:extLst>
          </p:cNvPr>
          <p:cNvSpPr txBox="1"/>
          <p:nvPr/>
        </p:nvSpPr>
        <p:spPr>
          <a:xfrm>
            <a:off x="0" y="481429"/>
            <a:ext cx="12639675" cy="861774"/>
          </a:xfrm>
          <a:prstGeom prst="rect">
            <a:avLst/>
          </a:prstGeom>
          <a:noFill/>
        </p:spPr>
        <p:txBody>
          <a:bodyPr wrap="square" rtlCol="0">
            <a:spAutoFit/>
          </a:bodyPr>
          <a:lstStyle/>
          <a:p>
            <a:r>
              <a:rPr lang="en-US" sz="4900" b="1" dirty="0">
                <a:solidFill>
                  <a:schemeClr val="bg1"/>
                </a:solidFill>
              </a:rPr>
              <a:t>Air Aware Smart Air Quality Prediction System</a:t>
            </a:r>
            <a:endParaRPr lang="en-IN" sz="4900" b="1" dirty="0">
              <a:solidFill>
                <a:schemeClr val="bg1"/>
              </a:solidFill>
            </a:endParaRPr>
          </a:p>
        </p:txBody>
      </p:sp>
      <p:sp>
        <p:nvSpPr>
          <p:cNvPr id="7" name="TextBox 6">
            <a:extLst>
              <a:ext uri="{FF2B5EF4-FFF2-40B4-BE49-F238E27FC236}">
                <a16:creationId xmlns:a16="http://schemas.microsoft.com/office/drawing/2014/main" id="{B9D5FA39-971C-4E92-9998-B5BD616AE32E}"/>
              </a:ext>
            </a:extLst>
          </p:cNvPr>
          <p:cNvSpPr txBox="1"/>
          <p:nvPr/>
        </p:nvSpPr>
        <p:spPr>
          <a:xfrm>
            <a:off x="7458075" y="1790700"/>
            <a:ext cx="3581400" cy="4154984"/>
          </a:xfrm>
          <a:prstGeom prst="rect">
            <a:avLst/>
          </a:prstGeom>
          <a:noFill/>
        </p:spPr>
        <p:txBody>
          <a:bodyPr wrap="square" rtlCol="0">
            <a:spAutoFit/>
          </a:bodyPr>
          <a:lstStyle/>
          <a:p>
            <a:r>
              <a:rPr lang="en-US" sz="2400" b="1" dirty="0" err="1">
                <a:solidFill>
                  <a:srgbClr val="00B0F0"/>
                </a:solidFill>
              </a:rPr>
              <a:t>AirAware</a:t>
            </a:r>
            <a:r>
              <a:rPr lang="en-US" sz="2400" b="1" dirty="0">
                <a:solidFill>
                  <a:srgbClr val="00B0F0"/>
                </a:solidFill>
              </a:rPr>
              <a:t> 🌤️</a:t>
            </a:r>
            <a:r>
              <a:rPr lang="en-US" sz="2400" dirty="0">
                <a:solidFill>
                  <a:srgbClr val="00B0F0"/>
                </a:solidFill>
              </a:rPr>
              <a:t> is a real-time air quality monitoring and prediction system. It shows live AQI data for major cities and uses an LSTM model to forecast PM2.5 levels. The interactive </a:t>
            </a:r>
            <a:r>
              <a:rPr lang="en-US" sz="2400" dirty="0" err="1">
                <a:solidFill>
                  <a:srgbClr val="00B0F0"/>
                </a:solidFill>
              </a:rPr>
              <a:t>Streamlit</a:t>
            </a:r>
            <a:r>
              <a:rPr lang="en-US" sz="2400" dirty="0">
                <a:solidFill>
                  <a:srgbClr val="00B0F0"/>
                </a:solidFill>
              </a:rPr>
              <a:t> dashboard helps users visualize pollution trends and make informed decisions about air quality.</a:t>
            </a:r>
            <a:endParaRPr lang="en-IN" sz="2400" dirty="0">
              <a:solidFill>
                <a:srgbClr val="00B0F0"/>
              </a:solidFill>
            </a:endParaRPr>
          </a:p>
        </p:txBody>
      </p:sp>
    </p:spTree>
    <p:extLst>
      <p:ext uri="{BB962C8B-B14F-4D97-AF65-F5344CB8AC3E}">
        <p14:creationId xmlns:p14="http://schemas.microsoft.com/office/powerpoint/2010/main" val="4292372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9000" r="-19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BFB682-B415-4532-A5C7-46899DB4B0EC}"/>
              </a:ext>
            </a:extLst>
          </p:cNvPr>
          <p:cNvSpPr txBox="1"/>
          <p:nvPr/>
        </p:nvSpPr>
        <p:spPr>
          <a:xfrm>
            <a:off x="116733" y="656527"/>
            <a:ext cx="5126476" cy="769441"/>
          </a:xfrm>
          <a:prstGeom prst="rect">
            <a:avLst/>
          </a:prstGeom>
          <a:noFill/>
        </p:spPr>
        <p:txBody>
          <a:bodyPr wrap="square" rtlCol="0">
            <a:spAutoFit/>
          </a:bodyPr>
          <a:lstStyle/>
          <a:p>
            <a:r>
              <a:rPr lang="en-US" sz="4400" b="1" dirty="0">
                <a:solidFill>
                  <a:srgbClr val="A7F3FF"/>
                </a:solidFill>
              </a:rPr>
              <a:t>Problem Statement:</a:t>
            </a:r>
            <a:endParaRPr lang="en-IN" sz="4400" b="1" dirty="0">
              <a:solidFill>
                <a:srgbClr val="A7F3FF"/>
              </a:solidFill>
            </a:endParaRPr>
          </a:p>
        </p:txBody>
      </p:sp>
      <p:sp>
        <p:nvSpPr>
          <p:cNvPr id="2" name="TextBox 1">
            <a:extLst>
              <a:ext uri="{FF2B5EF4-FFF2-40B4-BE49-F238E27FC236}">
                <a16:creationId xmlns:a16="http://schemas.microsoft.com/office/drawing/2014/main" id="{C10EF26E-662A-415D-823C-B21C3DDAA2F7}"/>
              </a:ext>
            </a:extLst>
          </p:cNvPr>
          <p:cNvSpPr txBox="1"/>
          <p:nvPr/>
        </p:nvSpPr>
        <p:spPr>
          <a:xfrm>
            <a:off x="330740" y="1614791"/>
            <a:ext cx="11050622" cy="1477328"/>
          </a:xfrm>
          <a:prstGeom prst="rect">
            <a:avLst/>
          </a:prstGeom>
          <a:noFill/>
        </p:spPr>
        <p:txBody>
          <a:bodyPr wrap="square" rtlCol="0">
            <a:spAutoFit/>
          </a:bodyPr>
          <a:lstStyle/>
          <a:p>
            <a:r>
              <a:rPr lang="en-US" dirty="0">
                <a:solidFill>
                  <a:schemeClr val="bg1">
                    <a:lumMod val="85000"/>
                  </a:schemeClr>
                </a:solidFill>
              </a:rPr>
              <a:t>Air pollution is a growing concern in urban environments, directly impacting human health and environmental quality. Accurate forecasting of air quality can help authorities take preventive measures, issue warnings, and inform the public. This project aims to build a time series forecasting system that predicts air quality index (AQI) and pollutant levels using historical pollution data. The goal is to empower environmental agencies, city planners, and the public with timely insights for healthier decision-making.</a:t>
            </a:r>
            <a:endParaRPr lang="en-IN" dirty="0">
              <a:solidFill>
                <a:schemeClr val="bg1">
                  <a:lumMod val="85000"/>
                </a:schemeClr>
              </a:solidFill>
            </a:endParaRPr>
          </a:p>
        </p:txBody>
      </p:sp>
      <p:pic>
        <p:nvPicPr>
          <p:cNvPr id="4" name="Picture 3">
            <a:extLst>
              <a:ext uri="{FF2B5EF4-FFF2-40B4-BE49-F238E27FC236}">
                <a16:creationId xmlns:a16="http://schemas.microsoft.com/office/drawing/2014/main" id="{CDA1D106-2A53-4DA9-BB1F-CB0AD30684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247" y="3179668"/>
            <a:ext cx="9192639" cy="3506699"/>
          </a:xfrm>
          <a:prstGeom prst="rect">
            <a:avLst/>
          </a:prstGeom>
          <a:blipFill>
            <a:blip r:embed="rId3"/>
            <a:stretch>
              <a:fillRect/>
            </a:stretch>
          </a:blipFill>
          <a:effectLst>
            <a:softEdge rad="152400"/>
          </a:effectLst>
        </p:spPr>
      </p:pic>
    </p:spTree>
    <p:extLst>
      <p:ext uri="{BB962C8B-B14F-4D97-AF65-F5344CB8AC3E}">
        <p14:creationId xmlns:p14="http://schemas.microsoft.com/office/powerpoint/2010/main" val="3735302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9000" r="-19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BFB682-B415-4532-A5C7-46899DB4B0EC}"/>
              </a:ext>
            </a:extLst>
          </p:cNvPr>
          <p:cNvSpPr txBox="1"/>
          <p:nvPr/>
        </p:nvSpPr>
        <p:spPr>
          <a:xfrm>
            <a:off x="116733" y="656527"/>
            <a:ext cx="5126476" cy="769441"/>
          </a:xfrm>
          <a:prstGeom prst="rect">
            <a:avLst/>
          </a:prstGeom>
          <a:noFill/>
        </p:spPr>
        <p:txBody>
          <a:bodyPr wrap="square" rtlCol="0">
            <a:spAutoFit/>
          </a:bodyPr>
          <a:lstStyle/>
          <a:p>
            <a:r>
              <a:rPr lang="en-US" sz="4400" b="1" dirty="0">
                <a:solidFill>
                  <a:srgbClr val="A7F3FF"/>
                </a:solidFill>
              </a:rPr>
              <a:t>Solution Objectives:</a:t>
            </a:r>
            <a:endParaRPr lang="en-IN" sz="4400" b="1" dirty="0">
              <a:solidFill>
                <a:srgbClr val="A7F3FF"/>
              </a:solidFill>
            </a:endParaRPr>
          </a:p>
        </p:txBody>
      </p:sp>
      <p:graphicFrame>
        <p:nvGraphicFramePr>
          <p:cNvPr id="5" name="Diagram 4">
            <a:extLst>
              <a:ext uri="{FF2B5EF4-FFF2-40B4-BE49-F238E27FC236}">
                <a16:creationId xmlns:a16="http://schemas.microsoft.com/office/drawing/2014/main" id="{7F4ECDE0-8EE1-4C7F-85BA-76588617C525}"/>
              </a:ext>
            </a:extLst>
          </p:cNvPr>
          <p:cNvGraphicFramePr/>
          <p:nvPr>
            <p:extLst>
              <p:ext uri="{D42A27DB-BD31-4B8C-83A1-F6EECF244321}">
                <p14:modId xmlns:p14="http://schemas.microsoft.com/office/powerpoint/2010/main" val="745152967"/>
              </p:ext>
            </p:extLst>
          </p:nvPr>
        </p:nvGraphicFramePr>
        <p:xfrm>
          <a:off x="330740" y="1614791"/>
          <a:ext cx="11050622" cy="35394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15237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9000" r="-19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BFB682-B415-4532-A5C7-46899DB4B0EC}"/>
              </a:ext>
            </a:extLst>
          </p:cNvPr>
          <p:cNvSpPr txBox="1"/>
          <p:nvPr/>
        </p:nvSpPr>
        <p:spPr>
          <a:xfrm>
            <a:off x="116733" y="656527"/>
            <a:ext cx="2976663" cy="769441"/>
          </a:xfrm>
          <a:prstGeom prst="rect">
            <a:avLst/>
          </a:prstGeom>
          <a:noFill/>
        </p:spPr>
        <p:txBody>
          <a:bodyPr wrap="square" rtlCol="0">
            <a:spAutoFit/>
          </a:bodyPr>
          <a:lstStyle/>
          <a:p>
            <a:r>
              <a:rPr lang="en-US" sz="4400" b="1" dirty="0">
                <a:solidFill>
                  <a:srgbClr val="A7F3FF"/>
                </a:solidFill>
              </a:rPr>
              <a:t>Tech Stack:</a:t>
            </a:r>
            <a:endParaRPr lang="en-IN" sz="4400" b="1" dirty="0">
              <a:solidFill>
                <a:srgbClr val="A7F3FF"/>
              </a:solidFill>
            </a:endParaRPr>
          </a:p>
        </p:txBody>
      </p:sp>
      <p:pic>
        <p:nvPicPr>
          <p:cNvPr id="5" name="Picture 4">
            <a:extLst>
              <a:ext uri="{FF2B5EF4-FFF2-40B4-BE49-F238E27FC236}">
                <a16:creationId xmlns:a16="http://schemas.microsoft.com/office/drawing/2014/main" id="{32D19073-6869-4387-ADAC-78188602DB69}"/>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270753" y="1609725"/>
            <a:ext cx="2373770" cy="1133475"/>
          </a:xfrm>
          <a:prstGeom prst="rect">
            <a:avLst/>
          </a:prstGeom>
        </p:spPr>
      </p:pic>
      <p:pic>
        <p:nvPicPr>
          <p:cNvPr id="9" name="Picture 8">
            <a:extLst>
              <a:ext uri="{FF2B5EF4-FFF2-40B4-BE49-F238E27FC236}">
                <a16:creationId xmlns:a16="http://schemas.microsoft.com/office/drawing/2014/main" id="{34D1145E-CE0C-440D-B892-F8AC5ACF0325}"/>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b="12300"/>
          <a:stretch/>
        </p:blipFill>
        <p:spPr>
          <a:xfrm>
            <a:off x="3297677" y="1609725"/>
            <a:ext cx="2373770" cy="1151590"/>
          </a:xfrm>
          <a:prstGeom prst="rect">
            <a:avLst/>
          </a:prstGeom>
        </p:spPr>
      </p:pic>
      <p:pic>
        <p:nvPicPr>
          <p:cNvPr id="12" name="Picture 11">
            <a:extLst>
              <a:ext uri="{FF2B5EF4-FFF2-40B4-BE49-F238E27FC236}">
                <a16:creationId xmlns:a16="http://schemas.microsoft.com/office/drawing/2014/main" id="{71D18EFC-16CA-4F89-84CE-F97D635520A5}"/>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6361931" y="1609726"/>
            <a:ext cx="2071950" cy="1151590"/>
          </a:xfrm>
          <a:prstGeom prst="rect">
            <a:avLst/>
          </a:prstGeom>
          <a:solidFill>
            <a:schemeClr val="accent1">
              <a:tint val="50000"/>
              <a:hueOff val="0"/>
              <a:satOff val="0"/>
              <a:lumOff val="0"/>
            </a:schemeClr>
          </a:solidFill>
        </p:spPr>
      </p:pic>
      <p:pic>
        <p:nvPicPr>
          <p:cNvPr id="15" name="Picture 14">
            <a:extLst>
              <a:ext uri="{FF2B5EF4-FFF2-40B4-BE49-F238E27FC236}">
                <a16:creationId xmlns:a16="http://schemas.microsoft.com/office/drawing/2014/main" id="{05B8510E-B926-446D-A9E6-580BEE138598}"/>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9112427" y="1581150"/>
            <a:ext cx="2857500" cy="1162050"/>
          </a:xfrm>
          <a:prstGeom prst="rect">
            <a:avLst/>
          </a:prstGeom>
          <a:solidFill>
            <a:schemeClr val="accent1">
              <a:tint val="50000"/>
              <a:hueOff val="0"/>
              <a:satOff val="0"/>
              <a:lumOff val="0"/>
            </a:schemeClr>
          </a:solidFill>
        </p:spPr>
      </p:pic>
      <p:pic>
        <p:nvPicPr>
          <p:cNvPr id="18" name="Picture 17">
            <a:extLst>
              <a:ext uri="{FF2B5EF4-FFF2-40B4-BE49-F238E27FC236}">
                <a16:creationId xmlns:a16="http://schemas.microsoft.com/office/drawing/2014/main" id="{FF5C646A-E98C-4241-9920-D692AE3186E0}"/>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270753" y="3226137"/>
            <a:ext cx="5238750" cy="1047750"/>
          </a:xfrm>
          <a:prstGeom prst="rect">
            <a:avLst/>
          </a:prstGeom>
          <a:solidFill>
            <a:schemeClr val="accent1">
              <a:tint val="50000"/>
              <a:hueOff val="0"/>
              <a:satOff val="0"/>
              <a:lumOff val="0"/>
            </a:schemeClr>
          </a:solidFill>
        </p:spPr>
      </p:pic>
      <p:sp>
        <p:nvSpPr>
          <p:cNvPr id="19" name="TextBox 18">
            <a:extLst>
              <a:ext uri="{FF2B5EF4-FFF2-40B4-BE49-F238E27FC236}">
                <a16:creationId xmlns:a16="http://schemas.microsoft.com/office/drawing/2014/main" id="{CF61FBB7-B41D-41DD-AECD-9901156B570D}"/>
              </a:ext>
            </a:extLst>
          </p:cNvPr>
          <p:cNvSpPr txBox="1"/>
          <p:nvPr/>
        </p:nvSpPr>
        <p:spPr>
          <a:xfrm>
            <a:off x="270753" y="4273887"/>
            <a:ext cx="5238750" cy="230832"/>
          </a:xfrm>
          <a:prstGeom prst="rect">
            <a:avLst/>
          </a:prstGeom>
          <a:solidFill>
            <a:schemeClr val="accent1">
              <a:tint val="50000"/>
              <a:hueOff val="0"/>
              <a:satOff val="0"/>
              <a:lumOff val="0"/>
            </a:schemeClr>
          </a:solidFill>
        </p:spPr>
        <p:txBody>
          <a:bodyPr wrap="square" rtlCol="0">
            <a:spAutoFit/>
          </a:bodyPr>
          <a:lstStyle/>
          <a:p>
            <a:r>
              <a:rPr lang="en-IN" sz="900">
                <a:hlinkClick r:id="rId12" tooltip="https://escape2020.github.io/school2021/"/>
              </a:rPr>
              <a:t>This Photo</a:t>
            </a:r>
            <a:r>
              <a:rPr lang="en-IN" sz="900"/>
              <a:t> by Unknown Author is licensed under </a:t>
            </a:r>
            <a:r>
              <a:rPr lang="en-IN" sz="900">
                <a:hlinkClick r:id="rId13" tooltip="https://creativecommons.org/licenses/by-nc-sa/3.0/"/>
              </a:rPr>
              <a:t>CC BY-SA-NC</a:t>
            </a:r>
            <a:endParaRPr lang="en-IN" sz="900"/>
          </a:p>
        </p:txBody>
      </p:sp>
      <p:pic>
        <p:nvPicPr>
          <p:cNvPr id="21" name="Picture 20">
            <a:extLst>
              <a:ext uri="{FF2B5EF4-FFF2-40B4-BE49-F238E27FC236}">
                <a16:creationId xmlns:a16="http://schemas.microsoft.com/office/drawing/2014/main" id="{DFB08DBE-069A-4FA5-A412-AD00677347B9}"/>
              </a:ext>
            </a:extLst>
          </p:cNvPr>
          <p:cNvPicPr>
            <a:picLocks noChangeAspect="1"/>
          </p:cNvPicPr>
          <p:nvPr/>
        </p:nvPicPr>
        <p:blipFill>
          <a:blip r:embed="rId14">
            <a:extLst>
              <a:ext uri="{28A0092B-C50C-407E-A947-70E740481C1C}">
                <a14:useLocalDpi xmlns:a14="http://schemas.microsoft.com/office/drawing/2010/main" val="0"/>
              </a:ext>
              <a:ext uri="{837473B0-CC2E-450A-ABE3-18F120FF3D39}">
                <a1611:picAttrSrcUrl xmlns:a1611="http://schemas.microsoft.com/office/drawing/2016/11/main" r:id="rId15"/>
              </a:ext>
            </a:extLst>
          </a:blip>
          <a:stretch>
            <a:fillRect/>
          </a:stretch>
        </p:blipFill>
        <p:spPr>
          <a:xfrm>
            <a:off x="6682499" y="3209068"/>
            <a:ext cx="3541271" cy="1295651"/>
          </a:xfrm>
          <a:prstGeom prst="rect">
            <a:avLst/>
          </a:prstGeom>
        </p:spPr>
      </p:pic>
      <p:pic>
        <p:nvPicPr>
          <p:cNvPr id="24" name="Picture 23">
            <a:extLst>
              <a:ext uri="{FF2B5EF4-FFF2-40B4-BE49-F238E27FC236}">
                <a16:creationId xmlns:a16="http://schemas.microsoft.com/office/drawing/2014/main" id="{9F3BA669-E630-4FD8-9D5A-0C346AA2827C}"/>
              </a:ext>
            </a:extLst>
          </p:cNvPr>
          <p:cNvPicPr>
            <a:picLocks noChangeAspect="1"/>
          </p:cNvPicPr>
          <p:nvPr/>
        </p:nvPicPr>
        <p:blipFill>
          <a:blip r:embed="rId16">
            <a:extLst>
              <a:ext uri="{28A0092B-C50C-407E-A947-70E740481C1C}">
                <a14:useLocalDpi xmlns:a14="http://schemas.microsoft.com/office/drawing/2010/main" val="0"/>
              </a:ext>
              <a:ext uri="{837473B0-CC2E-450A-ABE3-18F120FF3D39}">
                <a1611:picAttrSrcUrl xmlns:a1611="http://schemas.microsoft.com/office/drawing/2016/11/main" r:id="rId17"/>
              </a:ext>
            </a:extLst>
          </a:blip>
          <a:stretch>
            <a:fillRect/>
          </a:stretch>
        </p:blipFill>
        <p:spPr>
          <a:xfrm>
            <a:off x="4923817" y="4738709"/>
            <a:ext cx="2109281" cy="2109281"/>
          </a:xfrm>
          <a:prstGeom prst="rect">
            <a:avLst/>
          </a:prstGeom>
        </p:spPr>
      </p:pic>
    </p:spTree>
    <p:extLst>
      <p:ext uri="{BB962C8B-B14F-4D97-AF65-F5344CB8AC3E}">
        <p14:creationId xmlns:p14="http://schemas.microsoft.com/office/powerpoint/2010/main" val="2384737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9000" r="-19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BFB682-B415-4532-A5C7-46899DB4B0EC}"/>
              </a:ext>
            </a:extLst>
          </p:cNvPr>
          <p:cNvSpPr txBox="1"/>
          <p:nvPr/>
        </p:nvSpPr>
        <p:spPr>
          <a:xfrm>
            <a:off x="116733" y="656527"/>
            <a:ext cx="5126476" cy="769441"/>
          </a:xfrm>
          <a:prstGeom prst="rect">
            <a:avLst/>
          </a:prstGeom>
          <a:noFill/>
        </p:spPr>
        <p:txBody>
          <a:bodyPr wrap="square" rtlCol="0">
            <a:spAutoFit/>
          </a:bodyPr>
          <a:lstStyle/>
          <a:p>
            <a:r>
              <a:rPr lang="en-US" sz="4400" b="1" dirty="0">
                <a:solidFill>
                  <a:srgbClr val="A7F3FF"/>
                </a:solidFill>
              </a:rPr>
              <a:t>Data Sources</a:t>
            </a:r>
            <a:endParaRPr lang="en-IN" sz="4400" b="1" dirty="0">
              <a:solidFill>
                <a:srgbClr val="A7F3FF"/>
              </a:solidFill>
            </a:endParaRPr>
          </a:p>
        </p:txBody>
      </p:sp>
      <p:sp>
        <p:nvSpPr>
          <p:cNvPr id="3" name="Rectangle 1">
            <a:extLst>
              <a:ext uri="{FF2B5EF4-FFF2-40B4-BE49-F238E27FC236}">
                <a16:creationId xmlns:a16="http://schemas.microsoft.com/office/drawing/2014/main" id="{D08E1E7F-D38A-49D8-B7B3-9F4B4ED83651}"/>
              </a:ext>
            </a:extLst>
          </p:cNvPr>
          <p:cNvSpPr>
            <a:spLocks noChangeArrowheads="1"/>
          </p:cNvSpPr>
          <p:nvPr/>
        </p:nvSpPr>
        <p:spPr bwMode="auto">
          <a:xfrm>
            <a:off x="525293" y="1921931"/>
            <a:ext cx="10204316"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bg1">
                    <a:lumMod val="85000"/>
                  </a:schemeClr>
                </a:solidFill>
                <a:effectLst/>
                <a:latin typeface="Arial" panose="020B0604020202020204" pitchFamily="34" charset="0"/>
              </a:rPr>
              <a:t>AQICN API (real-time)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200" b="0" i="0" u="none" strike="noStrike" cap="none" normalizeH="0" baseline="0" dirty="0">
              <a:ln>
                <a:noFill/>
              </a:ln>
              <a:solidFill>
                <a:schemeClr val="bg1">
                  <a:lumMod val="8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bg1">
                    <a:lumMod val="85000"/>
                  </a:schemeClr>
                </a:solidFill>
                <a:effectLst/>
                <a:latin typeface="Arial" panose="020B0604020202020204" pitchFamily="34" charset="0"/>
              </a:rPr>
              <a:t>Historical AQI datasets (CSV files)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200" b="0" i="0" u="none" strike="noStrike" cap="none" normalizeH="0" baseline="0" dirty="0">
              <a:ln>
                <a:noFill/>
              </a:ln>
              <a:solidFill>
                <a:schemeClr val="bg1">
                  <a:lumMod val="8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bg1">
                    <a:lumMod val="85000"/>
                  </a:schemeClr>
                </a:solidFill>
                <a:effectLst/>
                <a:latin typeface="Arial" panose="020B0604020202020204" pitchFamily="34" charset="0"/>
              </a:rPr>
              <a:t>Pollutant features: PM2.5, PM10, O₃, NO₂, SO₂, CO</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200" b="0" i="0" u="none" strike="noStrike" cap="none" normalizeH="0" baseline="0" dirty="0">
              <a:ln>
                <a:noFill/>
              </a:ln>
              <a:solidFill>
                <a:schemeClr val="bg1">
                  <a:lumMod val="8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bg1">
                    <a:lumMod val="85000"/>
                  </a:schemeClr>
                </a:solidFill>
                <a:effectLst/>
                <a:latin typeface="Arial" panose="020B0604020202020204" pitchFamily="34" charset="0"/>
              </a:rPr>
              <a:t>Target: AQI value</a:t>
            </a:r>
          </a:p>
        </p:txBody>
      </p:sp>
    </p:spTree>
    <p:extLst>
      <p:ext uri="{BB962C8B-B14F-4D97-AF65-F5344CB8AC3E}">
        <p14:creationId xmlns:p14="http://schemas.microsoft.com/office/powerpoint/2010/main" val="957577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9000" r="-19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BFB682-B415-4532-A5C7-46899DB4B0EC}"/>
              </a:ext>
            </a:extLst>
          </p:cNvPr>
          <p:cNvSpPr txBox="1"/>
          <p:nvPr/>
        </p:nvSpPr>
        <p:spPr>
          <a:xfrm>
            <a:off x="313728" y="1048282"/>
            <a:ext cx="4620638" cy="523220"/>
          </a:xfrm>
          <a:prstGeom prst="rect">
            <a:avLst/>
          </a:prstGeom>
          <a:noFill/>
        </p:spPr>
        <p:txBody>
          <a:bodyPr wrap="square" rtlCol="0">
            <a:spAutoFit/>
          </a:bodyPr>
          <a:lstStyle/>
          <a:p>
            <a:r>
              <a:rPr lang="en-US" sz="2800" b="1" dirty="0">
                <a:solidFill>
                  <a:srgbClr val="A7F3FF"/>
                </a:solidFill>
              </a:rPr>
              <a:t>Work Flow / Process Diagram:</a:t>
            </a:r>
            <a:endParaRPr lang="en-IN" sz="2800" b="1" dirty="0">
              <a:solidFill>
                <a:srgbClr val="A7F3FF"/>
              </a:solidFill>
            </a:endParaRPr>
          </a:p>
        </p:txBody>
      </p:sp>
      <p:pic>
        <p:nvPicPr>
          <p:cNvPr id="3" name="Picture 2">
            <a:extLst>
              <a:ext uri="{FF2B5EF4-FFF2-40B4-BE49-F238E27FC236}">
                <a16:creationId xmlns:a16="http://schemas.microsoft.com/office/drawing/2014/main" id="{4E8D4098-8A86-4781-BD95-E2115AD0F0F8}"/>
              </a:ext>
            </a:extLst>
          </p:cNvPr>
          <p:cNvPicPr>
            <a:picLocks noChangeAspect="1"/>
          </p:cNvPicPr>
          <p:nvPr/>
        </p:nvPicPr>
        <p:blipFill>
          <a:blip r:embed="rId3"/>
          <a:stretch>
            <a:fillRect/>
          </a:stretch>
        </p:blipFill>
        <p:spPr>
          <a:xfrm>
            <a:off x="361544" y="1828622"/>
            <a:ext cx="4525006" cy="4820323"/>
          </a:xfrm>
          <a:prstGeom prst="rect">
            <a:avLst/>
          </a:prstGeom>
          <a:blipFill>
            <a:blip r:embed="rId2"/>
            <a:stretch>
              <a:fillRect/>
            </a:stretch>
          </a:blipFill>
        </p:spPr>
      </p:pic>
      <p:sp>
        <p:nvSpPr>
          <p:cNvPr id="7" name="TextBox 6">
            <a:extLst>
              <a:ext uri="{FF2B5EF4-FFF2-40B4-BE49-F238E27FC236}">
                <a16:creationId xmlns:a16="http://schemas.microsoft.com/office/drawing/2014/main" id="{51F30543-30F3-4C59-9414-E29EFEB15FF1}"/>
              </a:ext>
            </a:extLst>
          </p:cNvPr>
          <p:cNvSpPr txBox="1"/>
          <p:nvPr/>
        </p:nvSpPr>
        <p:spPr>
          <a:xfrm>
            <a:off x="6096000" y="1048282"/>
            <a:ext cx="4620638" cy="523220"/>
          </a:xfrm>
          <a:prstGeom prst="rect">
            <a:avLst/>
          </a:prstGeom>
          <a:noFill/>
        </p:spPr>
        <p:txBody>
          <a:bodyPr wrap="square" rtlCol="0">
            <a:spAutoFit/>
          </a:bodyPr>
          <a:lstStyle/>
          <a:p>
            <a:r>
              <a:rPr lang="en-IN" sz="2800" dirty="0">
                <a:solidFill>
                  <a:srgbClr val="A7F3FF"/>
                </a:solidFill>
              </a:rPr>
              <a:t>Architecture Diagram: </a:t>
            </a:r>
            <a:endParaRPr lang="en-IN" sz="2800" b="1" dirty="0">
              <a:solidFill>
                <a:srgbClr val="A7F3FF"/>
              </a:solidFill>
            </a:endParaRPr>
          </a:p>
        </p:txBody>
      </p:sp>
      <p:pic>
        <p:nvPicPr>
          <p:cNvPr id="9" name="Picture 8">
            <a:extLst>
              <a:ext uri="{FF2B5EF4-FFF2-40B4-BE49-F238E27FC236}">
                <a16:creationId xmlns:a16="http://schemas.microsoft.com/office/drawing/2014/main" id="{34D05B62-CB71-4550-8309-4B1FC4FB3F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59940" y="1828622"/>
            <a:ext cx="6647234" cy="3223198"/>
          </a:xfrm>
          <a:prstGeom prst="rect">
            <a:avLst/>
          </a:prstGeom>
        </p:spPr>
      </p:pic>
      <p:sp>
        <p:nvSpPr>
          <p:cNvPr id="11" name="TextBox 10">
            <a:extLst>
              <a:ext uri="{FF2B5EF4-FFF2-40B4-BE49-F238E27FC236}">
                <a16:creationId xmlns:a16="http://schemas.microsoft.com/office/drawing/2014/main" id="{13644C6F-98A1-460C-ABDA-AE63D38BFA9C}"/>
              </a:ext>
            </a:extLst>
          </p:cNvPr>
          <p:cNvSpPr txBox="1"/>
          <p:nvPr/>
        </p:nvSpPr>
        <p:spPr>
          <a:xfrm>
            <a:off x="457200" y="209055"/>
            <a:ext cx="6371617" cy="830997"/>
          </a:xfrm>
          <a:prstGeom prst="rect">
            <a:avLst/>
          </a:prstGeom>
          <a:noFill/>
        </p:spPr>
        <p:txBody>
          <a:bodyPr wrap="square" rtlCol="0">
            <a:spAutoFit/>
          </a:bodyPr>
          <a:lstStyle/>
          <a:p>
            <a:r>
              <a:rPr lang="en-IN" sz="4800" b="1" dirty="0">
                <a:solidFill>
                  <a:schemeClr val="bg1"/>
                </a:solidFill>
              </a:rPr>
              <a:t>Methodology:</a:t>
            </a:r>
          </a:p>
        </p:txBody>
      </p:sp>
    </p:spTree>
    <p:extLst>
      <p:ext uri="{BB962C8B-B14F-4D97-AF65-F5344CB8AC3E}">
        <p14:creationId xmlns:p14="http://schemas.microsoft.com/office/powerpoint/2010/main" val="2505620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9000" r="-19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BFB682-B415-4532-A5C7-46899DB4B0EC}"/>
              </a:ext>
            </a:extLst>
          </p:cNvPr>
          <p:cNvSpPr txBox="1"/>
          <p:nvPr/>
        </p:nvSpPr>
        <p:spPr>
          <a:xfrm>
            <a:off x="116733" y="656527"/>
            <a:ext cx="3424135" cy="769441"/>
          </a:xfrm>
          <a:prstGeom prst="rect">
            <a:avLst/>
          </a:prstGeom>
          <a:noFill/>
        </p:spPr>
        <p:txBody>
          <a:bodyPr wrap="square" rtlCol="0">
            <a:spAutoFit/>
          </a:bodyPr>
          <a:lstStyle/>
          <a:p>
            <a:r>
              <a:rPr lang="en-US" sz="4400" b="1" dirty="0">
                <a:solidFill>
                  <a:srgbClr val="A7F3FF"/>
                </a:solidFill>
              </a:rPr>
              <a:t>Models Used:</a:t>
            </a:r>
            <a:endParaRPr lang="en-IN" sz="4400" b="1" dirty="0">
              <a:solidFill>
                <a:srgbClr val="A7F3FF"/>
              </a:solidFill>
            </a:endParaRPr>
          </a:p>
        </p:txBody>
      </p:sp>
      <p:sp>
        <p:nvSpPr>
          <p:cNvPr id="3" name="TextBox 2">
            <a:extLst>
              <a:ext uri="{FF2B5EF4-FFF2-40B4-BE49-F238E27FC236}">
                <a16:creationId xmlns:a16="http://schemas.microsoft.com/office/drawing/2014/main" id="{ACCA9773-BADD-4A60-93C5-556F18D8E5AF}"/>
              </a:ext>
            </a:extLst>
          </p:cNvPr>
          <p:cNvSpPr txBox="1"/>
          <p:nvPr/>
        </p:nvSpPr>
        <p:spPr>
          <a:xfrm>
            <a:off x="1079770" y="1682886"/>
            <a:ext cx="7957226" cy="5632311"/>
          </a:xfrm>
          <a:prstGeom prst="rect">
            <a:avLst/>
          </a:prstGeom>
          <a:noFill/>
        </p:spPr>
        <p:txBody>
          <a:bodyPr wrap="square" rtlCol="0">
            <a:spAutoFit/>
          </a:bodyPr>
          <a:lstStyle/>
          <a:p>
            <a:pPr marL="285750" indent="-285750">
              <a:buFont typeface="Arial" panose="020B0604020202020204" pitchFamily="34" charset="0"/>
              <a:buChar char="•"/>
            </a:pPr>
            <a:r>
              <a:rPr lang="en-IN" sz="3600" dirty="0">
                <a:solidFill>
                  <a:schemeClr val="bg1">
                    <a:lumMod val="85000"/>
                  </a:schemeClr>
                </a:solidFill>
              </a:rPr>
              <a:t>Artificial Neural Networks</a:t>
            </a:r>
          </a:p>
          <a:p>
            <a:pPr marL="285750" indent="-285750">
              <a:buFont typeface="Arial" panose="020B0604020202020204" pitchFamily="34" charset="0"/>
              <a:buChar char="•"/>
            </a:pPr>
            <a:r>
              <a:rPr lang="en-IN" sz="3600" dirty="0">
                <a:solidFill>
                  <a:schemeClr val="bg1">
                    <a:lumMod val="85000"/>
                  </a:schemeClr>
                </a:solidFill>
              </a:rPr>
              <a:t>Decision Tree Regressor</a:t>
            </a:r>
          </a:p>
          <a:p>
            <a:pPr marL="285750" indent="-285750">
              <a:buFont typeface="Arial" panose="020B0604020202020204" pitchFamily="34" charset="0"/>
              <a:buChar char="•"/>
            </a:pPr>
            <a:r>
              <a:rPr lang="en-IN" sz="3600" dirty="0">
                <a:solidFill>
                  <a:schemeClr val="bg1">
                    <a:lumMod val="85000"/>
                  </a:schemeClr>
                </a:solidFill>
              </a:rPr>
              <a:t>Random Forest Regressor</a:t>
            </a:r>
          </a:p>
          <a:p>
            <a:pPr marL="285750" indent="-285750">
              <a:buFont typeface="Arial" panose="020B0604020202020204" pitchFamily="34" charset="0"/>
              <a:buChar char="•"/>
            </a:pPr>
            <a:r>
              <a:rPr lang="en-IN" sz="3600" dirty="0" err="1">
                <a:solidFill>
                  <a:schemeClr val="bg1">
                    <a:lumMod val="85000"/>
                  </a:schemeClr>
                </a:solidFill>
              </a:rPr>
              <a:t>Xgboost</a:t>
            </a:r>
            <a:r>
              <a:rPr lang="en-IN" sz="3600" dirty="0">
                <a:solidFill>
                  <a:schemeClr val="bg1">
                    <a:lumMod val="85000"/>
                  </a:schemeClr>
                </a:solidFill>
              </a:rPr>
              <a:t> Regressor</a:t>
            </a:r>
          </a:p>
          <a:p>
            <a:pPr marL="285750" indent="-285750">
              <a:buFont typeface="Arial" panose="020B0604020202020204" pitchFamily="34" charset="0"/>
              <a:buChar char="•"/>
            </a:pPr>
            <a:r>
              <a:rPr lang="en-IN" sz="3600" dirty="0">
                <a:solidFill>
                  <a:schemeClr val="bg1">
                    <a:lumMod val="85000"/>
                  </a:schemeClr>
                </a:solidFill>
              </a:rPr>
              <a:t>Ridge and Lasso Regression</a:t>
            </a:r>
          </a:p>
          <a:p>
            <a:pPr marL="285750" indent="-285750">
              <a:buFont typeface="Arial" panose="020B0604020202020204" pitchFamily="34" charset="0"/>
              <a:buChar char="•"/>
            </a:pPr>
            <a:r>
              <a:rPr lang="en-IN" sz="3600" dirty="0">
                <a:solidFill>
                  <a:schemeClr val="bg1">
                    <a:lumMod val="85000"/>
                  </a:schemeClr>
                </a:solidFill>
              </a:rPr>
              <a:t>K-nearest </a:t>
            </a:r>
            <a:r>
              <a:rPr lang="en-IN" sz="3600" dirty="0" err="1">
                <a:solidFill>
                  <a:schemeClr val="bg1">
                    <a:lumMod val="85000"/>
                  </a:schemeClr>
                </a:solidFill>
              </a:rPr>
              <a:t>neighbors</a:t>
            </a:r>
            <a:r>
              <a:rPr lang="en-IN" sz="3600" dirty="0">
                <a:solidFill>
                  <a:schemeClr val="bg1">
                    <a:lumMod val="85000"/>
                  </a:schemeClr>
                </a:solidFill>
              </a:rPr>
              <a:t> Regression</a:t>
            </a:r>
          </a:p>
          <a:p>
            <a:pPr marL="285750" indent="-285750">
              <a:buFont typeface="Arial" panose="020B0604020202020204" pitchFamily="34" charset="0"/>
              <a:buChar char="•"/>
            </a:pPr>
            <a:r>
              <a:rPr lang="en-IN" sz="3600" dirty="0">
                <a:solidFill>
                  <a:schemeClr val="bg1">
                    <a:lumMod val="85000"/>
                  </a:schemeClr>
                </a:solidFill>
              </a:rPr>
              <a:t>Linear Regression</a:t>
            </a:r>
          </a:p>
          <a:p>
            <a:pPr marL="285750" indent="-285750">
              <a:buFont typeface="Arial" panose="020B0604020202020204" pitchFamily="34" charset="0"/>
              <a:buChar char="•"/>
            </a:pPr>
            <a:r>
              <a:rPr lang="en-IN" sz="3600" dirty="0">
                <a:solidFill>
                  <a:schemeClr val="bg1">
                    <a:lumMod val="85000"/>
                  </a:schemeClr>
                </a:solidFill>
              </a:rPr>
              <a:t>Long Short Term Memory (LSTM)</a:t>
            </a:r>
          </a:p>
          <a:p>
            <a:pPr marL="285750" indent="-285750">
              <a:buFont typeface="Arial" panose="020B0604020202020204" pitchFamily="34" charset="0"/>
              <a:buChar char="•"/>
            </a:pPr>
            <a:endParaRPr lang="en-IN" sz="3600" dirty="0">
              <a:solidFill>
                <a:schemeClr val="bg1">
                  <a:lumMod val="85000"/>
                </a:schemeClr>
              </a:solidFill>
            </a:endParaRPr>
          </a:p>
          <a:p>
            <a:pPr marL="285750" indent="-285750">
              <a:buFont typeface="Arial" panose="020B0604020202020204" pitchFamily="34" charset="0"/>
              <a:buChar char="•"/>
            </a:pPr>
            <a:endParaRPr lang="en-IN" sz="3600" dirty="0">
              <a:solidFill>
                <a:schemeClr val="bg1">
                  <a:lumMod val="85000"/>
                </a:schemeClr>
              </a:solidFill>
            </a:endParaRPr>
          </a:p>
        </p:txBody>
      </p:sp>
    </p:spTree>
    <p:extLst>
      <p:ext uri="{BB962C8B-B14F-4D97-AF65-F5344CB8AC3E}">
        <p14:creationId xmlns:p14="http://schemas.microsoft.com/office/powerpoint/2010/main" val="728131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9000" r="-19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BFB682-B415-4532-A5C7-46899DB4B0EC}"/>
              </a:ext>
            </a:extLst>
          </p:cNvPr>
          <p:cNvSpPr txBox="1"/>
          <p:nvPr/>
        </p:nvSpPr>
        <p:spPr>
          <a:xfrm>
            <a:off x="68094" y="199327"/>
            <a:ext cx="11459182" cy="769441"/>
          </a:xfrm>
          <a:prstGeom prst="rect">
            <a:avLst/>
          </a:prstGeom>
          <a:noFill/>
        </p:spPr>
        <p:txBody>
          <a:bodyPr wrap="square" rtlCol="0">
            <a:spAutoFit/>
          </a:bodyPr>
          <a:lstStyle/>
          <a:p>
            <a:r>
              <a:rPr lang="en-US" sz="4400" b="1" dirty="0">
                <a:solidFill>
                  <a:srgbClr val="A7F3FF"/>
                </a:solidFill>
              </a:rPr>
              <a:t>Results: </a:t>
            </a:r>
            <a:r>
              <a:rPr lang="en-US" sz="3200" b="1" dirty="0">
                <a:solidFill>
                  <a:srgbClr val="A7F3FF"/>
                </a:solidFill>
              </a:rPr>
              <a:t>Models</a:t>
            </a:r>
            <a:r>
              <a:rPr lang="en-US" sz="4400" b="1" dirty="0">
                <a:solidFill>
                  <a:srgbClr val="A7F3FF"/>
                </a:solidFill>
              </a:rPr>
              <a:t> </a:t>
            </a:r>
            <a:r>
              <a:rPr lang="en-US" sz="3200" b="1" dirty="0">
                <a:solidFill>
                  <a:srgbClr val="A7F3FF"/>
                </a:solidFill>
              </a:rPr>
              <a:t>Comparison over the metrics and predictions</a:t>
            </a:r>
            <a:endParaRPr lang="en-IN" sz="4400" b="1" dirty="0">
              <a:solidFill>
                <a:srgbClr val="A7F3FF"/>
              </a:solidFill>
            </a:endParaRPr>
          </a:p>
        </p:txBody>
      </p:sp>
      <p:pic>
        <p:nvPicPr>
          <p:cNvPr id="2" name="Picture 1">
            <a:extLst>
              <a:ext uri="{FF2B5EF4-FFF2-40B4-BE49-F238E27FC236}">
                <a16:creationId xmlns:a16="http://schemas.microsoft.com/office/drawing/2014/main" id="{2A4D158A-337D-4640-9493-4B254AC0CF60}"/>
              </a:ext>
            </a:extLst>
          </p:cNvPr>
          <p:cNvPicPr>
            <a:picLocks noChangeAspect="1"/>
          </p:cNvPicPr>
          <p:nvPr/>
        </p:nvPicPr>
        <p:blipFill>
          <a:blip r:embed="rId3"/>
          <a:stretch>
            <a:fillRect/>
          </a:stretch>
        </p:blipFill>
        <p:spPr>
          <a:xfrm>
            <a:off x="533400" y="1554804"/>
            <a:ext cx="5562600" cy="3962400"/>
          </a:xfrm>
          <a:prstGeom prst="rect">
            <a:avLst/>
          </a:prstGeom>
        </p:spPr>
      </p:pic>
      <p:sp>
        <p:nvSpPr>
          <p:cNvPr id="4" name="TextBox 3">
            <a:extLst>
              <a:ext uri="{FF2B5EF4-FFF2-40B4-BE49-F238E27FC236}">
                <a16:creationId xmlns:a16="http://schemas.microsoft.com/office/drawing/2014/main" id="{315BEA7E-2C02-4DDD-8859-31BD57D1699B}"/>
              </a:ext>
            </a:extLst>
          </p:cNvPr>
          <p:cNvSpPr txBox="1"/>
          <p:nvPr/>
        </p:nvSpPr>
        <p:spPr>
          <a:xfrm>
            <a:off x="1439693" y="5655449"/>
            <a:ext cx="2733473" cy="369332"/>
          </a:xfrm>
          <a:prstGeom prst="rect">
            <a:avLst/>
          </a:prstGeom>
          <a:noFill/>
        </p:spPr>
        <p:txBody>
          <a:bodyPr wrap="square" rtlCol="0">
            <a:spAutoFit/>
          </a:bodyPr>
          <a:lstStyle/>
          <a:p>
            <a:r>
              <a:rPr lang="en-IN" dirty="0">
                <a:solidFill>
                  <a:srgbClr val="FFFF00"/>
                </a:solidFill>
              </a:rPr>
              <a:t>Artificial Neural Networks</a:t>
            </a:r>
          </a:p>
        </p:txBody>
      </p:sp>
      <p:pic>
        <p:nvPicPr>
          <p:cNvPr id="5" name="Picture 4">
            <a:extLst>
              <a:ext uri="{FF2B5EF4-FFF2-40B4-BE49-F238E27FC236}">
                <a16:creationId xmlns:a16="http://schemas.microsoft.com/office/drawing/2014/main" id="{C7E0A0DA-16C1-48B3-BCD9-0180C0E2C985}"/>
              </a:ext>
            </a:extLst>
          </p:cNvPr>
          <p:cNvPicPr>
            <a:picLocks noChangeAspect="1"/>
          </p:cNvPicPr>
          <p:nvPr/>
        </p:nvPicPr>
        <p:blipFill>
          <a:blip r:embed="rId4"/>
          <a:stretch>
            <a:fillRect/>
          </a:stretch>
        </p:blipFill>
        <p:spPr>
          <a:xfrm>
            <a:off x="6575898" y="1554804"/>
            <a:ext cx="5394798" cy="3990672"/>
          </a:xfrm>
          <a:prstGeom prst="rect">
            <a:avLst/>
          </a:prstGeom>
        </p:spPr>
      </p:pic>
      <p:sp>
        <p:nvSpPr>
          <p:cNvPr id="7" name="TextBox 6">
            <a:extLst>
              <a:ext uri="{FF2B5EF4-FFF2-40B4-BE49-F238E27FC236}">
                <a16:creationId xmlns:a16="http://schemas.microsoft.com/office/drawing/2014/main" id="{62B7E6A5-CFD0-4E3A-850D-3199BD5D4E39}"/>
              </a:ext>
            </a:extLst>
          </p:cNvPr>
          <p:cNvSpPr txBox="1"/>
          <p:nvPr/>
        </p:nvSpPr>
        <p:spPr>
          <a:xfrm>
            <a:off x="8110841" y="5629626"/>
            <a:ext cx="2733473" cy="369332"/>
          </a:xfrm>
          <a:prstGeom prst="rect">
            <a:avLst/>
          </a:prstGeom>
          <a:noFill/>
        </p:spPr>
        <p:txBody>
          <a:bodyPr wrap="square" rtlCol="0">
            <a:spAutoFit/>
          </a:bodyPr>
          <a:lstStyle/>
          <a:p>
            <a:r>
              <a:rPr lang="en-IN" dirty="0">
                <a:solidFill>
                  <a:srgbClr val="FFFF00"/>
                </a:solidFill>
              </a:rPr>
              <a:t>Decision Tree Regressor</a:t>
            </a:r>
          </a:p>
        </p:txBody>
      </p:sp>
    </p:spTree>
    <p:extLst>
      <p:ext uri="{BB962C8B-B14F-4D97-AF65-F5344CB8AC3E}">
        <p14:creationId xmlns:p14="http://schemas.microsoft.com/office/powerpoint/2010/main" val="2903080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9000" r="-19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BFB682-B415-4532-A5C7-46899DB4B0EC}"/>
              </a:ext>
            </a:extLst>
          </p:cNvPr>
          <p:cNvSpPr txBox="1"/>
          <p:nvPr/>
        </p:nvSpPr>
        <p:spPr>
          <a:xfrm>
            <a:off x="68094" y="199327"/>
            <a:ext cx="11459182" cy="769441"/>
          </a:xfrm>
          <a:prstGeom prst="rect">
            <a:avLst/>
          </a:prstGeom>
          <a:noFill/>
        </p:spPr>
        <p:txBody>
          <a:bodyPr wrap="square" rtlCol="0">
            <a:spAutoFit/>
          </a:bodyPr>
          <a:lstStyle/>
          <a:p>
            <a:r>
              <a:rPr lang="en-US" sz="4400" b="1" dirty="0">
                <a:solidFill>
                  <a:srgbClr val="A7F3FF"/>
                </a:solidFill>
              </a:rPr>
              <a:t>Results: </a:t>
            </a:r>
            <a:r>
              <a:rPr lang="en-US" sz="3200" b="1" dirty="0">
                <a:solidFill>
                  <a:srgbClr val="A7F3FF"/>
                </a:solidFill>
              </a:rPr>
              <a:t>Models</a:t>
            </a:r>
            <a:r>
              <a:rPr lang="en-US" sz="4400" b="1" dirty="0">
                <a:solidFill>
                  <a:srgbClr val="A7F3FF"/>
                </a:solidFill>
              </a:rPr>
              <a:t> </a:t>
            </a:r>
            <a:r>
              <a:rPr lang="en-US" sz="3200" b="1" dirty="0">
                <a:solidFill>
                  <a:srgbClr val="A7F3FF"/>
                </a:solidFill>
              </a:rPr>
              <a:t>Comparison over the metrics and predictions</a:t>
            </a:r>
            <a:endParaRPr lang="en-IN" sz="4400" b="1" dirty="0">
              <a:solidFill>
                <a:srgbClr val="A7F3FF"/>
              </a:solidFill>
            </a:endParaRPr>
          </a:p>
        </p:txBody>
      </p:sp>
      <p:sp>
        <p:nvSpPr>
          <p:cNvPr id="4" name="TextBox 3">
            <a:extLst>
              <a:ext uri="{FF2B5EF4-FFF2-40B4-BE49-F238E27FC236}">
                <a16:creationId xmlns:a16="http://schemas.microsoft.com/office/drawing/2014/main" id="{315BEA7E-2C02-4DDD-8859-31BD57D1699B}"/>
              </a:ext>
            </a:extLst>
          </p:cNvPr>
          <p:cNvSpPr txBox="1"/>
          <p:nvPr/>
        </p:nvSpPr>
        <p:spPr>
          <a:xfrm>
            <a:off x="1439693" y="5655449"/>
            <a:ext cx="2733473" cy="369332"/>
          </a:xfrm>
          <a:prstGeom prst="rect">
            <a:avLst/>
          </a:prstGeom>
          <a:noFill/>
        </p:spPr>
        <p:txBody>
          <a:bodyPr wrap="square" rtlCol="0">
            <a:spAutoFit/>
          </a:bodyPr>
          <a:lstStyle/>
          <a:p>
            <a:r>
              <a:rPr lang="en-IN" dirty="0">
                <a:solidFill>
                  <a:srgbClr val="FFFF00"/>
                </a:solidFill>
              </a:rPr>
              <a:t>Decision Tree Regressor</a:t>
            </a:r>
          </a:p>
        </p:txBody>
      </p:sp>
      <p:sp>
        <p:nvSpPr>
          <p:cNvPr id="7" name="TextBox 6">
            <a:extLst>
              <a:ext uri="{FF2B5EF4-FFF2-40B4-BE49-F238E27FC236}">
                <a16:creationId xmlns:a16="http://schemas.microsoft.com/office/drawing/2014/main" id="{62B7E6A5-CFD0-4E3A-850D-3199BD5D4E39}"/>
              </a:ext>
            </a:extLst>
          </p:cNvPr>
          <p:cNvSpPr txBox="1"/>
          <p:nvPr/>
        </p:nvSpPr>
        <p:spPr>
          <a:xfrm>
            <a:off x="8110841" y="5629626"/>
            <a:ext cx="2733473" cy="369332"/>
          </a:xfrm>
          <a:prstGeom prst="rect">
            <a:avLst/>
          </a:prstGeom>
          <a:noFill/>
        </p:spPr>
        <p:txBody>
          <a:bodyPr wrap="square" rtlCol="0">
            <a:spAutoFit/>
          </a:bodyPr>
          <a:lstStyle/>
          <a:p>
            <a:r>
              <a:rPr lang="en-IN" dirty="0">
                <a:solidFill>
                  <a:srgbClr val="FFFF00"/>
                </a:solidFill>
              </a:rPr>
              <a:t>XG boost Regressor</a:t>
            </a:r>
          </a:p>
        </p:txBody>
      </p:sp>
      <p:pic>
        <p:nvPicPr>
          <p:cNvPr id="3" name="Picture 2">
            <a:extLst>
              <a:ext uri="{FF2B5EF4-FFF2-40B4-BE49-F238E27FC236}">
                <a16:creationId xmlns:a16="http://schemas.microsoft.com/office/drawing/2014/main" id="{D64BCBC6-73D7-463F-920A-85DB74F9BD0F}"/>
              </a:ext>
            </a:extLst>
          </p:cNvPr>
          <p:cNvPicPr>
            <a:picLocks noChangeAspect="1"/>
          </p:cNvPicPr>
          <p:nvPr/>
        </p:nvPicPr>
        <p:blipFill>
          <a:blip r:embed="rId3"/>
          <a:stretch>
            <a:fillRect/>
          </a:stretch>
        </p:blipFill>
        <p:spPr>
          <a:xfrm>
            <a:off x="447676" y="1527526"/>
            <a:ext cx="5515380" cy="4017950"/>
          </a:xfrm>
          <a:prstGeom prst="rect">
            <a:avLst/>
          </a:prstGeom>
        </p:spPr>
      </p:pic>
      <p:pic>
        <p:nvPicPr>
          <p:cNvPr id="8" name="Picture 7">
            <a:extLst>
              <a:ext uri="{FF2B5EF4-FFF2-40B4-BE49-F238E27FC236}">
                <a16:creationId xmlns:a16="http://schemas.microsoft.com/office/drawing/2014/main" id="{B2146676-BAB1-4D35-B022-52763CB806AE}"/>
              </a:ext>
            </a:extLst>
          </p:cNvPr>
          <p:cNvPicPr>
            <a:picLocks noChangeAspect="1"/>
          </p:cNvPicPr>
          <p:nvPr/>
        </p:nvPicPr>
        <p:blipFill>
          <a:blip r:embed="rId4"/>
          <a:stretch>
            <a:fillRect/>
          </a:stretch>
        </p:blipFill>
        <p:spPr>
          <a:xfrm>
            <a:off x="6256412" y="1527526"/>
            <a:ext cx="5860769" cy="4017950"/>
          </a:xfrm>
          <a:prstGeom prst="rect">
            <a:avLst/>
          </a:prstGeom>
          <a:solidFill>
            <a:schemeClr val="accent1">
              <a:tint val="50000"/>
              <a:hueOff val="0"/>
              <a:satOff val="0"/>
              <a:lumOff val="0"/>
            </a:schemeClr>
          </a:solidFill>
        </p:spPr>
      </p:pic>
    </p:spTree>
    <p:extLst>
      <p:ext uri="{BB962C8B-B14F-4D97-AF65-F5344CB8AC3E}">
        <p14:creationId xmlns:p14="http://schemas.microsoft.com/office/powerpoint/2010/main" val="1994561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9000" r="-19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BFB682-B415-4532-A5C7-46899DB4B0EC}"/>
              </a:ext>
            </a:extLst>
          </p:cNvPr>
          <p:cNvSpPr txBox="1"/>
          <p:nvPr/>
        </p:nvSpPr>
        <p:spPr>
          <a:xfrm>
            <a:off x="68094" y="199327"/>
            <a:ext cx="11459182" cy="769441"/>
          </a:xfrm>
          <a:prstGeom prst="rect">
            <a:avLst/>
          </a:prstGeom>
          <a:noFill/>
        </p:spPr>
        <p:txBody>
          <a:bodyPr wrap="square" rtlCol="0">
            <a:spAutoFit/>
          </a:bodyPr>
          <a:lstStyle/>
          <a:p>
            <a:r>
              <a:rPr lang="en-US" sz="4400" b="1" dirty="0">
                <a:solidFill>
                  <a:srgbClr val="A7F3FF"/>
                </a:solidFill>
              </a:rPr>
              <a:t>Results: </a:t>
            </a:r>
            <a:r>
              <a:rPr lang="en-US" sz="3200" b="1" dirty="0">
                <a:solidFill>
                  <a:srgbClr val="A7F3FF"/>
                </a:solidFill>
              </a:rPr>
              <a:t>Models</a:t>
            </a:r>
            <a:r>
              <a:rPr lang="en-US" sz="4400" b="1" dirty="0">
                <a:solidFill>
                  <a:srgbClr val="A7F3FF"/>
                </a:solidFill>
              </a:rPr>
              <a:t> </a:t>
            </a:r>
            <a:r>
              <a:rPr lang="en-US" sz="3200" b="1" dirty="0">
                <a:solidFill>
                  <a:srgbClr val="A7F3FF"/>
                </a:solidFill>
              </a:rPr>
              <a:t>Comparison over the metrics and predictions</a:t>
            </a:r>
            <a:endParaRPr lang="en-IN" sz="4400" b="1" dirty="0">
              <a:solidFill>
                <a:srgbClr val="A7F3FF"/>
              </a:solidFill>
            </a:endParaRPr>
          </a:p>
        </p:txBody>
      </p:sp>
      <p:sp>
        <p:nvSpPr>
          <p:cNvPr id="4" name="TextBox 3">
            <a:extLst>
              <a:ext uri="{FF2B5EF4-FFF2-40B4-BE49-F238E27FC236}">
                <a16:creationId xmlns:a16="http://schemas.microsoft.com/office/drawing/2014/main" id="{315BEA7E-2C02-4DDD-8859-31BD57D1699B}"/>
              </a:ext>
            </a:extLst>
          </p:cNvPr>
          <p:cNvSpPr txBox="1"/>
          <p:nvPr/>
        </p:nvSpPr>
        <p:spPr>
          <a:xfrm>
            <a:off x="2140084" y="5638052"/>
            <a:ext cx="2733473" cy="369332"/>
          </a:xfrm>
          <a:prstGeom prst="rect">
            <a:avLst/>
          </a:prstGeom>
          <a:noFill/>
        </p:spPr>
        <p:txBody>
          <a:bodyPr wrap="square" rtlCol="0">
            <a:spAutoFit/>
          </a:bodyPr>
          <a:lstStyle/>
          <a:p>
            <a:r>
              <a:rPr lang="en-IN" dirty="0">
                <a:solidFill>
                  <a:srgbClr val="FFFF00"/>
                </a:solidFill>
              </a:rPr>
              <a:t>Lasso Regression </a:t>
            </a:r>
          </a:p>
        </p:txBody>
      </p:sp>
      <p:sp>
        <p:nvSpPr>
          <p:cNvPr id="7" name="TextBox 6">
            <a:extLst>
              <a:ext uri="{FF2B5EF4-FFF2-40B4-BE49-F238E27FC236}">
                <a16:creationId xmlns:a16="http://schemas.microsoft.com/office/drawing/2014/main" id="{62B7E6A5-CFD0-4E3A-850D-3199BD5D4E39}"/>
              </a:ext>
            </a:extLst>
          </p:cNvPr>
          <p:cNvSpPr txBox="1"/>
          <p:nvPr/>
        </p:nvSpPr>
        <p:spPr>
          <a:xfrm>
            <a:off x="8110841" y="5629626"/>
            <a:ext cx="2733473" cy="369332"/>
          </a:xfrm>
          <a:prstGeom prst="rect">
            <a:avLst/>
          </a:prstGeom>
          <a:noFill/>
        </p:spPr>
        <p:txBody>
          <a:bodyPr wrap="square" rtlCol="0">
            <a:spAutoFit/>
          </a:bodyPr>
          <a:lstStyle/>
          <a:p>
            <a:r>
              <a:rPr lang="en-IN" dirty="0">
                <a:solidFill>
                  <a:srgbClr val="FFFF00"/>
                </a:solidFill>
              </a:rPr>
              <a:t>KNN Regressor</a:t>
            </a:r>
          </a:p>
        </p:txBody>
      </p:sp>
      <p:pic>
        <p:nvPicPr>
          <p:cNvPr id="2" name="Picture 1">
            <a:extLst>
              <a:ext uri="{FF2B5EF4-FFF2-40B4-BE49-F238E27FC236}">
                <a16:creationId xmlns:a16="http://schemas.microsoft.com/office/drawing/2014/main" id="{16C68935-3F31-4F41-8826-1B2FFEA57A9B}"/>
              </a:ext>
            </a:extLst>
          </p:cNvPr>
          <p:cNvPicPr>
            <a:picLocks noChangeAspect="1"/>
          </p:cNvPicPr>
          <p:nvPr/>
        </p:nvPicPr>
        <p:blipFill>
          <a:blip r:embed="rId3"/>
          <a:stretch>
            <a:fillRect/>
          </a:stretch>
        </p:blipFill>
        <p:spPr>
          <a:xfrm>
            <a:off x="345523" y="1430676"/>
            <a:ext cx="5562600" cy="4114800"/>
          </a:xfrm>
          <a:prstGeom prst="rect">
            <a:avLst/>
          </a:prstGeom>
        </p:spPr>
      </p:pic>
      <p:pic>
        <p:nvPicPr>
          <p:cNvPr id="5" name="Picture 4">
            <a:extLst>
              <a:ext uri="{FF2B5EF4-FFF2-40B4-BE49-F238E27FC236}">
                <a16:creationId xmlns:a16="http://schemas.microsoft.com/office/drawing/2014/main" id="{6BA9AD62-3E23-4C8A-87C0-C2E10119FB98}"/>
              </a:ext>
            </a:extLst>
          </p:cNvPr>
          <p:cNvPicPr>
            <a:picLocks noChangeAspect="1"/>
          </p:cNvPicPr>
          <p:nvPr/>
        </p:nvPicPr>
        <p:blipFill>
          <a:blip r:embed="rId4"/>
          <a:stretch>
            <a:fillRect/>
          </a:stretch>
        </p:blipFill>
        <p:spPr>
          <a:xfrm>
            <a:off x="6388641" y="1430676"/>
            <a:ext cx="5562600" cy="4114800"/>
          </a:xfrm>
          <a:prstGeom prst="rect">
            <a:avLst/>
          </a:prstGeom>
        </p:spPr>
      </p:pic>
    </p:spTree>
    <p:extLst>
      <p:ext uri="{BB962C8B-B14F-4D97-AF65-F5344CB8AC3E}">
        <p14:creationId xmlns:p14="http://schemas.microsoft.com/office/powerpoint/2010/main" val="2813149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9000" r="-19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BFB682-B415-4532-A5C7-46899DB4B0EC}"/>
              </a:ext>
            </a:extLst>
          </p:cNvPr>
          <p:cNvSpPr txBox="1"/>
          <p:nvPr/>
        </p:nvSpPr>
        <p:spPr>
          <a:xfrm>
            <a:off x="68094" y="199327"/>
            <a:ext cx="11459182" cy="769441"/>
          </a:xfrm>
          <a:prstGeom prst="rect">
            <a:avLst/>
          </a:prstGeom>
          <a:noFill/>
        </p:spPr>
        <p:txBody>
          <a:bodyPr wrap="square" rtlCol="0">
            <a:spAutoFit/>
          </a:bodyPr>
          <a:lstStyle/>
          <a:p>
            <a:r>
              <a:rPr lang="en-US" sz="4400" b="1" dirty="0">
                <a:solidFill>
                  <a:srgbClr val="A7F3FF"/>
                </a:solidFill>
              </a:rPr>
              <a:t>Results: </a:t>
            </a:r>
            <a:r>
              <a:rPr lang="en-US" sz="3200" b="1" dirty="0">
                <a:solidFill>
                  <a:srgbClr val="A7F3FF"/>
                </a:solidFill>
              </a:rPr>
              <a:t>Models</a:t>
            </a:r>
            <a:r>
              <a:rPr lang="en-US" sz="4400" b="1" dirty="0">
                <a:solidFill>
                  <a:srgbClr val="A7F3FF"/>
                </a:solidFill>
              </a:rPr>
              <a:t> </a:t>
            </a:r>
            <a:r>
              <a:rPr lang="en-US" sz="3200" b="1" dirty="0">
                <a:solidFill>
                  <a:srgbClr val="A7F3FF"/>
                </a:solidFill>
              </a:rPr>
              <a:t>Comparison over the metrics and predictions</a:t>
            </a:r>
            <a:endParaRPr lang="en-IN" sz="4400" b="1" dirty="0">
              <a:solidFill>
                <a:srgbClr val="A7F3FF"/>
              </a:solidFill>
            </a:endParaRPr>
          </a:p>
        </p:txBody>
      </p:sp>
      <p:pic>
        <p:nvPicPr>
          <p:cNvPr id="3" name="Picture 2">
            <a:extLst>
              <a:ext uri="{FF2B5EF4-FFF2-40B4-BE49-F238E27FC236}">
                <a16:creationId xmlns:a16="http://schemas.microsoft.com/office/drawing/2014/main" id="{6D0B63C9-52CD-4E21-BC2B-CF8A590A5A18}"/>
              </a:ext>
            </a:extLst>
          </p:cNvPr>
          <p:cNvPicPr>
            <a:picLocks noChangeAspect="1"/>
          </p:cNvPicPr>
          <p:nvPr/>
        </p:nvPicPr>
        <p:blipFill rotWithShape="1">
          <a:blip r:embed="rId3"/>
          <a:srcRect l="3090" r="-770" b="6614"/>
          <a:stretch/>
        </p:blipFill>
        <p:spPr>
          <a:xfrm>
            <a:off x="2607013" y="1207352"/>
            <a:ext cx="6643991" cy="3967763"/>
          </a:xfrm>
          <a:prstGeom prst="rect">
            <a:avLst/>
          </a:prstGeom>
        </p:spPr>
      </p:pic>
      <p:sp>
        <p:nvSpPr>
          <p:cNvPr id="8" name="TextBox 7">
            <a:extLst>
              <a:ext uri="{FF2B5EF4-FFF2-40B4-BE49-F238E27FC236}">
                <a16:creationId xmlns:a16="http://schemas.microsoft.com/office/drawing/2014/main" id="{2B1B050D-8D3A-4244-AB6F-FD450C89A92B}"/>
              </a:ext>
            </a:extLst>
          </p:cNvPr>
          <p:cNvSpPr txBox="1"/>
          <p:nvPr/>
        </p:nvSpPr>
        <p:spPr>
          <a:xfrm>
            <a:off x="5009744" y="5281316"/>
            <a:ext cx="4134256" cy="369332"/>
          </a:xfrm>
          <a:prstGeom prst="rect">
            <a:avLst/>
          </a:prstGeom>
          <a:noFill/>
        </p:spPr>
        <p:txBody>
          <a:bodyPr wrap="square" rtlCol="0">
            <a:spAutoFit/>
          </a:bodyPr>
          <a:lstStyle/>
          <a:p>
            <a:r>
              <a:rPr lang="en-IN" dirty="0">
                <a:solidFill>
                  <a:srgbClr val="FFFF00"/>
                </a:solidFill>
              </a:rPr>
              <a:t>LSTM Regression</a:t>
            </a:r>
          </a:p>
        </p:txBody>
      </p:sp>
    </p:spTree>
    <p:extLst>
      <p:ext uri="{BB962C8B-B14F-4D97-AF65-F5344CB8AC3E}">
        <p14:creationId xmlns:p14="http://schemas.microsoft.com/office/powerpoint/2010/main" val="1139356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9000" r="-19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BFB682-B415-4532-A5C7-46899DB4B0EC}"/>
              </a:ext>
            </a:extLst>
          </p:cNvPr>
          <p:cNvSpPr txBox="1"/>
          <p:nvPr/>
        </p:nvSpPr>
        <p:spPr>
          <a:xfrm>
            <a:off x="116733" y="656527"/>
            <a:ext cx="3424135" cy="769441"/>
          </a:xfrm>
          <a:prstGeom prst="rect">
            <a:avLst/>
          </a:prstGeom>
          <a:noFill/>
        </p:spPr>
        <p:txBody>
          <a:bodyPr wrap="square" rtlCol="0">
            <a:spAutoFit/>
          </a:bodyPr>
          <a:lstStyle/>
          <a:p>
            <a:r>
              <a:rPr lang="en-US" sz="4400" b="1" dirty="0">
                <a:solidFill>
                  <a:srgbClr val="A7F3FF"/>
                </a:solidFill>
              </a:rPr>
              <a:t>Challenges:</a:t>
            </a:r>
            <a:endParaRPr lang="en-IN" sz="4400" b="1" dirty="0">
              <a:solidFill>
                <a:srgbClr val="A7F3FF"/>
              </a:solidFill>
            </a:endParaRPr>
          </a:p>
        </p:txBody>
      </p:sp>
      <p:sp>
        <p:nvSpPr>
          <p:cNvPr id="2" name="Rectangle 1">
            <a:extLst>
              <a:ext uri="{FF2B5EF4-FFF2-40B4-BE49-F238E27FC236}">
                <a16:creationId xmlns:a16="http://schemas.microsoft.com/office/drawing/2014/main" id="{D052D7B7-68E2-4521-B7CF-3998D1E9ADBB}"/>
              </a:ext>
            </a:extLst>
          </p:cNvPr>
          <p:cNvSpPr>
            <a:spLocks noChangeArrowheads="1"/>
          </p:cNvSpPr>
          <p:nvPr/>
        </p:nvSpPr>
        <p:spPr bwMode="auto">
          <a:xfrm>
            <a:off x="749029" y="1756561"/>
            <a:ext cx="8258783"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bg1">
                    <a:lumMod val="85000"/>
                  </a:schemeClr>
                </a:solidFill>
                <a:effectLst/>
                <a:latin typeface="Arial" panose="020B0604020202020204" pitchFamily="34" charset="0"/>
              </a:rPr>
              <a:t>API limitations (access tokens, data gaps)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200" b="0" i="0" u="none" strike="noStrike" cap="none" normalizeH="0" baseline="0" dirty="0">
              <a:ln>
                <a:noFill/>
              </a:ln>
              <a:solidFill>
                <a:schemeClr val="bg1">
                  <a:lumMod val="8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bg1">
                    <a:lumMod val="85000"/>
                  </a:schemeClr>
                </a:solidFill>
                <a:effectLst/>
                <a:latin typeface="Arial" panose="020B0604020202020204" pitchFamily="34" charset="0"/>
              </a:rPr>
              <a:t>Seasonal variability in pollution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200" b="0" i="0" u="none" strike="noStrike" cap="none" normalizeH="0" baseline="0" dirty="0">
              <a:ln>
                <a:noFill/>
              </a:ln>
              <a:solidFill>
                <a:schemeClr val="bg1">
                  <a:lumMod val="8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bg1">
                    <a:lumMod val="85000"/>
                  </a:schemeClr>
                </a:solidFill>
                <a:effectLst/>
                <a:latin typeface="Arial" panose="020B0604020202020204" pitchFamily="34" charset="0"/>
              </a:rPr>
              <a:t>Handling missing and inconsistent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200" b="0" i="0" u="none" strike="noStrike" cap="none" normalizeH="0" baseline="0" dirty="0">
              <a:ln>
                <a:noFill/>
              </a:ln>
              <a:solidFill>
                <a:schemeClr val="bg1">
                  <a:lumMod val="8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bg1">
                    <a:lumMod val="85000"/>
                  </a:schemeClr>
                </a:solidFill>
                <a:effectLst/>
                <a:latin typeface="Arial" panose="020B0604020202020204" pitchFamily="34" charset="0"/>
              </a:rPr>
              <a:t>Scaling the model for multiple cities</a:t>
            </a:r>
          </a:p>
        </p:txBody>
      </p:sp>
    </p:spTree>
    <p:extLst>
      <p:ext uri="{BB962C8B-B14F-4D97-AF65-F5344CB8AC3E}">
        <p14:creationId xmlns:p14="http://schemas.microsoft.com/office/powerpoint/2010/main" val="1949111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9000" r="-19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BFB682-B415-4532-A5C7-46899DB4B0EC}"/>
              </a:ext>
            </a:extLst>
          </p:cNvPr>
          <p:cNvSpPr txBox="1"/>
          <p:nvPr/>
        </p:nvSpPr>
        <p:spPr>
          <a:xfrm>
            <a:off x="97278" y="0"/>
            <a:ext cx="3122578" cy="769441"/>
          </a:xfrm>
          <a:prstGeom prst="rect">
            <a:avLst/>
          </a:prstGeom>
          <a:noFill/>
        </p:spPr>
        <p:txBody>
          <a:bodyPr wrap="square" rtlCol="0">
            <a:spAutoFit/>
          </a:bodyPr>
          <a:lstStyle/>
          <a:p>
            <a:r>
              <a:rPr lang="en-US" sz="4400" b="1" dirty="0">
                <a:solidFill>
                  <a:srgbClr val="A7F3FF"/>
                </a:solidFill>
              </a:rPr>
              <a:t>Dashboard:</a:t>
            </a:r>
            <a:endParaRPr lang="en-IN" sz="4400" b="1" dirty="0">
              <a:solidFill>
                <a:srgbClr val="A7F3FF"/>
              </a:solidFill>
            </a:endParaRPr>
          </a:p>
        </p:txBody>
      </p:sp>
      <p:pic>
        <p:nvPicPr>
          <p:cNvPr id="3" name="Picture 2">
            <a:extLst>
              <a:ext uri="{FF2B5EF4-FFF2-40B4-BE49-F238E27FC236}">
                <a16:creationId xmlns:a16="http://schemas.microsoft.com/office/drawing/2014/main" id="{AA7B3E5C-70B7-48C3-B8BD-91590DCAE160}"/>
              </a:ext>
            </a:extLst>
          </p:cNvPr>
          <p:cNvPicPr>
            <a:picLocks noChangeAspect="1"/>
          </p:cNvPicPr>
          <p:nvPr/>
        </p:nvPicPr>
        <p:blipFill>
          <a:blip r:embed="rId3"/>
          <a:stretch>
            <a:fillRect/>
          </a:stretch>
        </p:blipFill>
        <p:spPr>
          <a:xfrm>
            <a:off x="981992" y="1187622"/>
            <a:ext cx="4475728" cy="2192469"/>
          </a:xfrm>
          <a:prstGeom prst="rect">
            <a:avLst/>
          </a:prstGeom>
        </p:spPr>
      </p:pic>
      <p:pic>
        <p:nvPicPr>
          <p:cNvPr id="5" name="Picture 4">
            <a:extLst>
              <a:ext uri="{FF2B5EF4-FFF2-40B4-BE49-F238E27FC236}">
                <a16:creationId xmlns:a16="http://schemas.microsoft.com/office/drawing/2014/main" id="{42E579BE-B23D-4713-A8BD-93F56CEFEA43}"/>
              </a:ext>
            </a:extLst>
          </p:cNvPr>
          <p:cNvPicPr>
            <a:picLocks noChangeAspect="1"/>
          </p:cNvPicPr>
          <p:nvPr/>
        </p:nvPicPr>
        <p:blipFill>
          <a:blip r:embed="rId4"/>
          <a:stretch>
            <a:fillRect/>
          </a:stretch>
        </p:blipFill>
        <p:spPr>
          <a:xfrm>
            <a:off x="7431395" y="1148818"/>
            <a:ext cx="4518418" cy="2192469"/>
          </a:xfrm>
          <a:prstGeom prst="rect">
            <a:avLst/>
          </a:prstGeom>
        </p:spPr>
      </p:pic>
      <p:pic>
        <p:nvPicPr>
          <p:cNvPr id="7" name="Picture 6">
            <a:extLst>
              <a:ext uri="{FF2B5EF4-FFF2-40B4-BE49-F238E27FC236}">
                <a16:creationId xmlns:a16="http://schemas.microsoft.com/office/drawing/2014/main" id="{0043A581-0730-45AC-A383-7A67CEF1A87F}"/>
              </a:ext>
            </a:extLst>
          </p:cNvPr>
          <p:cNvPicPr>
            <a:picLocks noChangeAspect="1"/>
          </p:cNvPicPr>
          <p:nvPr/>
        </p:nvPicPr>
        <p:blipFill>
          <a:blip r:embed="rId5"/>
          <a:stretch>
            <a:fillRect/>
          </a:stretch>
        </p:blipFill>
        <p:spPr>
          <a:xfrm>
            <a:off x="964310" y="4040933"/>
            <a:ext cx="4560725" cy="2344157"/>
          </a:xfrm>
          <a:prstGeom prst="rect">
            <a:avLst/>
          </a:prstGeom>
        </p:spPr>
      </p:pic>
      <p:pic>
        <p:nvPicPr>
          <p:cNvPr id="8" name="Picture 7">
            <a:extLst>
              <a:ext uri="{FF2B5EF4-FFF2-40B4-BE49-F238E27FC236}">
                <a16:creationId xmlns:a16="http://schemas.microsoft.com/office/drawing/2014/main" id="{89819774-63B4-436C-8CF9-FAA5AFB9BF13}"/>
              </a:ext>
            </a:extLst>
          </p:cNvPr>
          <p:cNvPicPr>
            <a:picLocks noChangeAspect="1"/>
          </p:cNvPicPr>
          <p:nvPr/>
        </p:nvPicPr>
        <p:blipFill>
          <a:blip r:embed="rId6"/>
          <a:stretch>
            <a:fillRect/>
          </a:stretch>
        </p:blipFill>
        <p:spPr>
          <a:xfrm>
            <a:off x="7474087" y="4040933"/>
            <a:ext cx="4475726" cy="2344157"/>
          </a:xfrm>
          <a:prstGeom prst="rect">
            <a:avLst/>
          </a:prstGeom>
        </p:spPr>
      </p:pic>
      <p:sp>
        <p:nvSpPr>
          <p:cNvPr id="9" name="TextBox 8">
            <a:extLst>
              <a:ext uri="{FF2B5EF4-FFF2-40B4-BE49-F238E27FC236}">
                <a16:creationId xmlns:a16="http://schemas.microsoft.com/office/drawing/2014/main" id="{6A537BDF-CF3F-44CF-A272-5545494B9912}"/>
              </a:ext>
            </a:extLst>
          </p:cNvPr>
          <p:cNvSpPr txBox="1"/>
          <p:nvPr/>
        </p:nvSpPr>
        <p:spPr>
          <a:xfrm>
            <a:off x="2603904" y="817971"/>
            <a:ext cx="1061320" cy="369651"/>
          </a:xfrm>
          <a:prstGeom prst="rect">
            <a:avLst/>
          </a:prstGeom>
          <a:noFill/>
        </p:spPr>
        <p:txBody>
          <a:bodyPr wrap="square" rtlCol="0">
            <a:spAutoFit/>
          </a:bodyPr>
          <a:lstStyle/>
          <a:p>
            <a:r>
              <a:rPr lang="en-IN" dirty="0">
                <a:solidFill>
                  <a:srgbClr val="FFFF00"/>
                </a:solidFill>
              </a:rPr>
              <a:t>LIVE AQI</a:t>
            </a:r>
          </a:p>
        </p:txBody>
      </p:sp>
      <p:sp>
        <p:nvSpPr>
          <p:cNvPr id="10" name="TextBox 9">
            <a:extLst>
              <a:ext uri="{FF2B5EF4-FFF2-40B4-BE49-F238E27FC236}">
                <a16:creationId xmlns:a16="http://schemas.microsoft.com/office/drawing/2014/main" id="{CBAB5717-3E99-4B31-B932-3791E8B899E4}"/>
              </a:ext>
            </a:extLst>
          </p:cNvPr>
          <p:cNvSpPr txBox="1"/>
          <p:nvPr/>
        </p:nvSpPr>
        <p:spPr>
          <a:xfrm>
            <a:off x="8694155" y="769441"/>
            <a:ext cx="1992898" cy="369332"/>
          </a:xfrm>
          <a:prstGeom prst="rect">
            <a:avLst/>
          </a:prstGeom>
          <a:noFill/>
        </p:spPr>
        <p:txBody>
          <a:bodyPr wrap="square" rtlCol="0">
            <a:spAutoFit/>
          </a:bodyPr>
          <a:lstStyle/>
          <a:p>
            <a:r>
              <a:rPr lang="en-IN" dirty="0">
                <a:solidFill>
                  <a:srgbClr val="FFFF00"/>
                </a:solidFill>
              </a:rPr>
              <a:t>LSTM PREDICTIONS</a:t>
            </a:r>
          </a:p>
        </p:txBody>
      </p:sp>
      <p:sp>
        <p:nvSpPr>
          <p:cNvPr id="11" name="TextBox 10">
            <a:extLst>
              <a:ext uri="{FF2B5EF4-FFF2-40B4-BE49-F238E27FC236}">
                <a16:creationId xmlns:a16="http://schemas.microsoft.com/office/drawing/2014/main" id="{9E94759A-63D2-43B3-B273-DC07B19B9CA3}"/>
              </a:ext>
            </a:extLst>
          </p:cNvPr>
          <p:cNvSpPr txBox="1"/>
          <p:nvPr/>
        </p:nvSpPr>
        <p:spPr>
          <a:xfrm>
            <a:off x="1382461" y="3675555"/>
            <a:ext cx="3724422" cy="369332"/>
          </a:xfrm>
          <a:prstGeom prst="rect">
            <a:avLst/>
          </a:prstGeom>
          <a:noFill/>
        </p:spPr>
        <p:txBody>
          <a:bodyPr wrap="square" rtlCol="0">
            <a:spAutoFit/>
          </a:bodyPr>
          <a:lstStyle/>
          <a:p>
            <a:r>
              <a:rPr lang="en-IN" dirty="0">
                <a:solidFill>
                  <a:srgbClr val="FFFF00"/>
                </a:solidFill>
              </a:rPr>
              <a:t>Prediction graph and Historical trends</a:t>
            </a:r>
          </a:p>
        </p:txBody>
      </p:sp>
      <p:sp>
        <p:nvSpPr>
          <p:cNvPr id="12" name="TextBox 11">
            <a:extLst>
              <a:ext uri="{FF2B5EF4-FFF2-40B4-BE49-F238E27FC236}">
                <a16:creationId xmlns:a16="http://schemas.microsoft.com/office/drawing/2014/main" id="{80C32C08-9C85-480E-9025-789044CE07B9}"/>
              </a:ext>
            </a:extLst>
          </p:cNvPr>
          <p:cNvSpPr txBox="1"/>
          <p:nvPr/>
        </p:nvSpPr>
        <p:spPr>
          <a:xfrm>
            <a:off x="8482519" y="3718844"/>
            <a:ext cx="2853044" cy="369332"/>
          </a:xfrm>
          <a:prstGeom prst="rect">
            <a:avLst/>
          </a:prstGeom>
          <a:noFill/>
        </p:spPr>
        <p:txBody>
          <a:bodyPr wrap="square" rtlCol="0">
            <a:spAutoFit/>
          </a:bodyPr>
          <a:lstStyle/>
          <a:p>
            <a:r>
              <a:rPr lang="en-IN" dirty="0">
                <a:solidFill>
                  <a:srgbClr val="FFFF00"/>
                </a:solidFill>
              </a:rPr>
              <a:t>Admin Panel and Retraining</a:t>
            </a:r>
          </a:p>
        </p:txBody>
      </p:sp>
    </p:spTree>
    <p:extLst>
      <p:ext uri="{BB962C8B-B14F-4D97-AF65-F5344CB8AC3E}">
        <p14:creationId xmlns:p14="http://schemas.microsoft.com/office/powerpoint/2010/main" val="4110816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9000" r="-19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BFB682-B415-4532-A5C7-46899DB4B0EC}"/>
              </a:ext>
            </a:extLst>
          </p:cNvPr>
          <p:cNvSpPr txBox="1"/>
          <p:nvPr/>
        </p:nvSpPr>
        <p:spPr>
          <a:xfrm>
            <a:off x="116733" y="656527"/>
            <a:ext cx="3424135" cy="769441"/>
          </a:xfrm>
          <a:prstGeom prst="rect">
            <a:avLst/>
          </a:prstGeom>
          <a:noFill/>
        </p:spPr>
        <p:txBody>
          <a:bodyPr wrap="square" rtlCol="0">
            <a:spAutoFit/>
          </a:bodyPr>
          <a:lstStyle/>
          <a:p>
            <a:r>
              <a:rPr lang="en-IN" sz="4400" dirty="0">
                <a:solidFill>
                  <a:srgbClr val="A7F3FF"/>
                </a:solidFill>
              </a:rPr>
              <a:t>Future Scope</a:t>
            </a:r>
            <a:endParaRPr lang="en-IN" sz="4400" b="1" dirty="0">
              <a:solidFill>
                <a:srgbClr val="A7F3FF"/>
              </a:solidFill>
            </a:endParaRPr>
          </a:p>
        </p:txBody>
      </p:sp>
      <p:sp>
        <p:nvSpPr>
          <p:cNvPr id="2" name="Rectangle 1">
            <a:extLst>
              <a:ext uri="{FF2B5EF4-FFF2-40B4-BE49-F238E27FC236}">
                <a16:creationId xmlns:a16="http://schemas.microsoft.com/office/drawing/2014/main" id="{D052D7B7-68E2-4521-B7CF-3998D1E9ADBB}"/>
              </a:ext>
            </a:extLst>
          </p:cNvPr>
          <p:cNvSpPr>
            <a:spLocks noChangeArrowheads="1"/>
          </p:cNvSpPr>
          <p:nvPr/>
        </p:nvSpPr>
        <p:spPr bwMode="auto">
          <a:xfrm>
            <a:off x="739301" y="1841080"/>
            <a:ext cx="8258783"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Arial" panose="020B0604020202020204" pitchFamily="34" charset="0"/>
              <a:buChar char="•"/>
            </a:pPr>
            <a:r>
              <a:rPr lang="en-US" sz="3200" dirty="0">
                <a:solidFill>
                  <a:schemeClr val="bg1">
                    <a:lumMod val="85000"/>
                  </a:schemeClr>
                </a:solidFill>
              </a:rPr>
              <a:t>Incorporate weather &amp; traffic data for better prediction</a:t>
            </a:r>
          </a:p>
          <a:p>
            <a:pPr marL="457200" indent="-457200">
              <a:buFont typeface="Arial" panose="020B0604020202020204" pitchFamily="34" charset="0"/>
              <a:buChar char="•"/>
            </a:pPr>
            <a:endParaRPr lang="en-US" sz="3200" dirty="0">
              <a:solidFill>
                <a:schemeClr val="bg1">
                  <a:lumMod val="85000"/>
                </a:schemeClr>
              </a:solidFill>
            </a:endParaRPr>
          </a:p>
          <a:p>
            <a:pPr marL="457200" indent="-457200">
              <a:buFont typeface="Arial" panose="020B0604020202020204" pitchFamily="34" charset="0"/>
              <a:buChar char="•"/>
            </a:pPr>
            <a:r>
              <a:rPr lang="en-US" sz="3200" dirty="0">
                <a:solidFill>
                  <a:schemeClr val="bg1">
                    <a:lumMod val="85000"/>
                  </a:schemeClr>
                </a:solidFill>
              </a:rPr>
              <a:t>Mobile app integration for citizen alerts</a:t>
            </a:r>
          </a:p>
          <a:p>
            <a:pPr marL="457200" indent="-457200">
              <a:buFont typeface="Arial" panose="020B0604020202020204" pitchFamily="34" charset="0"/>
              <a:buChar char="•"/>
            </a:pPr>
            <a:endParaRPr lang="en-US" sz="3200" dirty="0">
              <a:solidFill>
                <a:schemeClr val="bg1">
                  <a:lumMod val="85000"/>
                </a:schemeClr>
              </a:solidFill>
            </a:endParaRPr>
          </a:p>
          <a:p>
            <a:pPr marL="457200" indent="-457200">
              <a:buFont typeface="Arial" panose="020B0604020202020204" pitchFamily="34" charset="0"/>
              <a:buChar char="•"/>
            </a:pPr>
            <a:r>
              <a:rPr lang="en-US" sz="3200" dirty="0">
                <a:solidFill>
                  <a:schemeClr val="bg1">
                    <a:lumMod val="85000"/>
                  </a:schemeClr>
                </a:solidFill>
              </a:rPr>
              <a:t>GIS mapping of pollution hotspots</a:t>
            </a:r>
          </a:p>
          <a:p>
            <a:pPr marL="457200" indent="-457200">
              <a:buFont typeface="Arial" panose="020B0604020202020204" pitchFamily="34" charset="0"/>
              <a:buChar char="•"/>
            </a:pPr>
            <a:endParaRPr lang="en-US" sz="3200" dirty="0">
              <a:solidFill>
                <a:schemeClr val="bg1">
                  <a:lumMod val="85000"/>
                </a:schemeClr>
              </a:solidFill>
            </a:endParaRPr>
          </a:p>
          <a:p>
            <a:pPr marL="457200" indent="-457200">
              <a:buFont typeface="Arial" panose="020B0604020202020204" pitchFamily="34" charset="0"/>
              <a:buChar char="•"/>
            </a:pPr>
            <a:r>
              <a:rPr lang="en-US" sz="3200" dirty="0">
                <a:solidFill>
                  <a:schemeClr val="bg1">
                    <a:lumMod val="85000"/>
                  </a:schemeClr>
                </a:solidFill>
              </a:rPr>
              <a:t>Government policy recommendation system</a:t>
            </a:r>
          </a:p>
        </p:txBody>
      </p:sp>
    </p:spTree>
    <p:extLst>
      <p:ext uri="{BB962C8B-B14F-4D97-AF65-F5344CB8AC3E}">
        <p14:creationId xmlns:p14="http://schemas.microsoft.com/office/powerpoint/2010/main" val="3066250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9000" r="-19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BFB682-B415-4532-A5C7-46899DB4B0EC}"/>
              </a:ext>
            </a:extLst>
          </p:cNvPr>
          <p:cNvSpPr txBox="1"/>
          <p:nvPr/>
        </p:nvSpPr>
        <p:spPr>
          <a:xfrm>
            <a:off x="116733" y="656527"/>
            <a:ext cx="3424135" cy="769441"/>
          </a:xfrm>
          <a:prstGeom prst="rect">
            <a:avLst/>
          </a:prstGeom>
          <a:noFill/>
        </p:spPr>
        <p:txBody>
          <a:bodyPr wrap="square" rtlCol="0">
            <a:spAutoFit/>
          </a:bodyPr>
          <a:lstStyle/>
          <a:p>
            <a:r>
              <a:rPr lang="en-IN" sz="4400" dirty="0">
                <a:solidFill>
                  <a:srgbClr val="A7F3FF"/>
                </a:solidFill>
              </a:rPr>
              <a:t>Conclusion:</a:t>
            </a:r>
            <a:endParaRPr lang="en-IN" sz="4400" b="1" dirty="0">
              <a:solidFill>
                <a:srgbClr val="A7F3FF"/>
              </a:solidFill>
            </a:endParaRPr>
          </a:p>
        </p:txBody>
      </p:sp>
      <p:sp>
        <p:nvSpPr>
          <p:cNvPr id="4" name="Rectangle 2">
            <a:extLst>
              <a:ext uri="{FF2B5EF4-FFF2-40B4-BE49-F238E27FC236}">
                <a16:creationId xmlns:a16="http://schemas.microsoft.com/office/drawing/2014/main" id="{E17775D1-DE6C-4F72-830F-AAAB1E6A5605}"/>
              </a:ext>
            </a:extLst>
          </p:cNvPr>
          <p:cNvSpPr>
            <a:spLocks noChangeArrowheads="1"/>
          </p:cNvSpPr>
          <p:nvPr/>
        </p:nvSpPr>
        <p:spPr bwMode="auto">
          <a:xfrm>
            <a:off x="612842" y="1725785"/>
            <a:ext cx="1006812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85000"/>
                  </a:schemeClr>
                </a:solidFill>
                <a:effectLst/>
                <a:latin typeface="Arial" panose="020B0604020202020204" pitchFamily="34" charset="0"/>
              </a:rPr>
              <a:t>Air pollution remains one of the </a:t>
            </a:r>
            <a:r>
              <a:rPr kumimoji="0" lang="en-US" altLang="en-US" sz="1800" b="1" i="0" u="none" strike="noStrike" cap="none" normalizeH="0" baseline="0" dirty="0">
                <a:ln>
                  <a:noFill/>
                </a:ln>
                <a:solidFill>
                  <a:schemeClr val="bg1">
                    <a:lumMod val="85000"/>
                  </a:schemeClr>
                </a:solidFill>
                <a:effectLst/>
                <a:latin typeface="Arial" panose="020B0604020202020204" pitchFamily="34" charset="0"/>
              </a:rPr>
              <a:t>biggest threats to public health and environment</a:t>
            </a:r>
            <a:r>
              <a:rPr kumimoji="0" lang="en-US" altLang="en-US" sz="1800" b="0" i="0" u="none" strike="noStrike" cap="none" normalizeH="0" baseline="0" dirty="0">
                <a:ln>
                  <a:noFill/>
                </a:ln>
                <a:solidFill>
                  <a:schemeClr val="bg1">
                    <a:lumMod val="85000"/>
                  </a:schemeClr>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lumMod val="8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85000"/>
                  </a:schemeClr>
                </a:solidFill>
                <a:effectLst/>
                <a:latin typeface="Arial" panose="020B0604020202020204" pitchFamily="34" charset="0"/>
              </a:rPr>
              <a:t>Our project demonstrates that </a:t>
            </a:r>
            <a:r>
              <a:rPr kumimoji="0" lang="en-US" altLang="en-US" sz="1800" b="1" i="0" u="none" strike="noStrike" cap="none" normalizeH="0" baseline="0" dirty="0">
                <a:ln>
                  <a:noFill/>
                </a:ln>
                <a:solidFill>
                  <a:schemeClr val="bg1">
                    <a:lumMod val="85000"/>
                  </a:schemeClr>
                </a:solidFill>
                <a:effectLst/>
                <a:latin typeface="Arial" panose="020B0604020202020204" pitchFamily="34" charset="0"/>
              </a:rPr>
              <a:t>real-time monitoring + AI-driven forecasting</a:t>
            </a:r>
            <a:r>
              <a:rPr kumimoji="0" lang="en-US" altLang="en-US" sz="1800" b="0" i="0" u="none" strike="noStrike" cap="none" normalizeH="0" baseline="0" dirty="0">
                <a:ln>
                  <a:noFill/>
                </a:ln>
                <a:solidFill>
                  <a:schemeClr val="bg1">
                    <a:lumMod val="85000"/>
                  </a:schemeClr>
                </a:solidFill>
                <a:effectLst/>
                <a:latin typeface="Arial" panose="020B0604020202020204" pitchFamily="34" charset="0"/>
              </a:rPr>
              <a:t> can empower </a:t>
            </a:r>
            <a:r>
              <a:rPr kumimoji="0" lang="en-US" altLang="en-US" sz="1800" b="1" i="0" u="none" strike="noStrike" cap="none" normalizeH="0" baseline="0" dirty="0">
                <a:ln>
                  <a:noFill/>
                </a:ln>
                <a:solidFill>
                  <a:schemeClr val="bg1">
                    <a:lumMod val="85000"/>
                  </a:schemeClr>
                </a:solidFill>
                <a:effectLst/>
                <a:latin typeface="Arial" panose="020B0604020202020204" pitchFamily="34" charset="0"/>
              </a:rPr>
              <a:t>citizens, policymakers, and researchers</a:t>
            </a:r>
            <a:r>
              <a:rPr kumimoji="0" lang="en-US" altLang="en-US" sz="1800" b="0" i="0" u="none" strike="noStrike" cap="none" normalizeH="0" baseline="0" dirty="0">
                <a:ln>
                  <a:noFill/>
                </a:ln>
                <a:solidFill>
                  <a:schemeClr val="bg1">
                    <a:lumMod val="85000"/>
                  </a:schemeClr>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lumMod val="8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lumMod val="85000"/>
                  </a:schemeClr>
                </a:solidFill>
                <a:effectLst/>
                <a:latin typeface="Arial" panose="020B0604020202020204" pitchFamily="34" charset="0"/>
              </a:rPr>
              <a:t>By predicting pollution trends, we can move from </a:t>
            </a:r>
            <a:r>
              <a:rPr kumimoji="0" lang="en-US" altLang="en-US" sz="1800" b="1" i="0" u="none" strike="noStrike" cap="none" normalizeH="0" baseline="0" dirty="0">
                <a:ln>
                  <a:noFill/>
                </a:ln>
                <a:solidFill>
                  <a:schemeClr val="bg1">
                    <a:lumMod val="85000"/>
                  </a:schemeClr>
                </a:solidFill>
                <a:effectLst/>
                <a:latin typeface="Arial" panose="020B0604020202020204" pitchFamily="34" charset="0"/>
              </a:rPr>
              <a:t>reactive measures</a:t>
            </a:r>
            <a:r>
              <a:rPr kumimoji="0" lang="en-US" altLang="en-US" sz="1800" b="0" i="0" u="none" strike="noStrike" cap="none" normalizeH="0" baseline="0" dirty="0">
                <a:ln>
                  <a:noFill/>
                </a:ln>
                <a:solidFill>
                  <a:schemeClr val="bg1">
                    <a:lumMod val="85000"/>
                  </a:schemeClr>
                </a:solidFill>
                <a:effectLst/>
                <a:latin typeface="Arial" panose="020B0604020202020204" pitchFamily="34" charset="0"/>
              </a:rPr>
              <a:t> to </a:t>
            </a:r>
            <a:r>
              <a:rPr kumimoji="0" lang="en-US" altLang="en-US" sz="1800" b="1" i="0" u="none" strike="noStrike" cap="none" normalizeH="0" baseline="0" dirty="0">
                <a:ln>
                  <a:noFill/>
                </a:ln>
                <a:solidFill>
                  <a:schemeClr val="bg1">
                    <a:lumMod val="85000"/>
                  </a:schemeClr>
                </a:solidFill>
                <a:effectLst/>
                <a:latin typeface="Arial" panose="020B0604020202020204" pitchFamily="34" charset="0"/>
              </a:rPr>
              <a:t>proactive solutions</a:t>
            </a:r>
            <a:r>
              <a:rPr kumimoji="0" lang="en-US" altLang="en-US" sz="1800" b="0" i="0" u="none" strike="noStrike" cap="none" normalizeH="0" baseline="0" dirty="0">
                <a:ln>
                  <a:noFill/>
                </a:ln>
                <a:solidFill>
                  <a:schemeClr val="bg1">
                    <a:lumMod val="85000"/>
                  </a:schemeClr>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lumMod val="8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bg1">
                    <a:lumMod val="85000"/>
                  </a:schemeClr>
                </a:solidFill>
                <a:effectLst/>
                <a:latin typeface="Arial" panose="020B0604020202020204" pitchFamily="34" charset="0"/>
              </a:rPr>
              <a:t>AirAware</a:t>
            </a:r>
            <a:r>
              <a:rPr kumimoji="0" lang="en-US" altLang="en-US" sz="1800" b="1" i="0" u="none" strike="noStrike" cap="none" normalizeH="0" baseline="0" dirty="0">
                <a:ln>
                  <a:noFill/>
                </a:ln>
                <a:solidFill>
                  <a:schemeClr val="bg1">
                    <a:lumMod val="85000"/>
                  </a:schemeClr>
                </a:solidFill>
                <a:effectLst/>
                <a:latin typeface="Arial" panose="020B0604020202020204" pitchFamily="34" charset="0"/>
              </a:rPr>
              <a:t> is a step toward cleaner air, smarter cities, and a healthier future.</a:t>
            </a:r>
            <a:endParaRPr kumimoji="0" lang="en-US" altLang="en-US" sz="1800" b="0" i="0" u="none" strike="noStrike" cap="none" normalizeH="0" baseline="0" dirty="0">
              <a:ln>
                <a:noFill/>
              </a:ln>
              <a:solidFill>
                <a:schemeClr val="bg1">
                  <a:lumMod val="85000"/>
                </a:schemeClr>
              </a:solidFill>
              <a:effectLst/>
              <a:latin typeface="Arial" panose="020B0604020202020204" pitchFamily="34" charset="0"/>
            </a:endParaRPr>
          </a:p>
        </p:txBody>
      </p:sp>
    </p:spTree>
    <p:extLst>
      <p:ext uri="{BB962C8B-B14F-4D97-AF65-F5344CB8AC3E}">
        <p14:creationId xmlns:p14="http://schemas.microsoft.com/office/powerpoint/2010/main" val="1779808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9000" r="-19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BFB682-B415-4532-A5C7-46899DB4B0EC}"/>
              </a:ext>
            </a:extLst>
          </p:cNvPr>
          <p:cNvSpPr txBox="1"/>
          <p:nvPr/>
        </p:nvSpPr>
        <p:spPr>
          <a:xfrm>
            <a:off x="116733" y="656527"/>
            <a:ext cx="3424135" cy="769441"/>
          </a:xfrm>
          <a:prstGeom prst="rect">
            <a:avLst/>
          </a:prstGeom>
          <a:noFill/>
        </p:spPr>
        <p:txBody>
          <a:bodyPr wrap="square" rtlCol="0">
            <a:spAutoFit/>
          </a:bodyPr>
          <a:lstStyle/>
          <a:p>
            <a:r>
              <a:rPr lang="en-IN" sz="4400" dirty="0">
                <a:solidFill>
                  <a:srgbClr val="A7F3FF"/>
                </a:solidFill>
              </a:rPr>
              <a:t>References:</a:t>
            </a:r>
            <a:endParaRPr lang="en-IN" sz="4400" b="1" dirty="0">
              <a:solidFill>
                <a:srgbClr val="A7F3FF"/>
              </a:solidFill>
            </a:endParaRPr>
          </a:p>
        </p:txBody>
      </p:sp>
      <p:sp>
        <p:nvSpPr>
          <p:cNvPr id="4" name="Rectangle 2">
            <a:extLst>
              <a:ext uri="{FF2B5EF4-FFF2-40B4-BE49-F238E27FC236}">
                <a16:creationId xmlns:a16="http://schemas.microsoft.com/office/drawing/2014/main" id="{E17775D1-DE6C-4F72-830F-AAAB1E6A5605}"/>
              </a:ext>
            </a:extLst>
          </p:cNvPr>
          <p:cNvSpPr>
            <a:spLocks noChangeArrowheads="1"/>
          </p:cNvSpPr>
          <p:nvPr/>
        </p:nvSpPr>
        <p:spPr bwMode="auto">
          <a:xfrm>
            <a:off x="116733" y="1637757"/>
            <a:ext cx="1174128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kumimoji="0" lang="en-US" altLang="en-US" sz="1800" b="0" i="0" u="none" strike="noStrike" cap="none" normalizeH="0" baseline="0" dirty="0">
                <a:ln>
                  <a:noFill/>
                </a:ln>
                <a:solidFill>
                  <a:schemeClr val="bg1">
                    <a:lumMod val="85000"/>
                  </a:schemeClr>
                </a:solidFill>
                <a:effectLst/>
                <a:latin typeface="Arial" panose="020B0604020202020204" pitchFamily="34" charset="0"/>
              </a:rPr>
              <a:t>AQICN, </a:t>
            </a:r>
            <a:r>
              <a:rPr lang="en-US" altLang="en-US" dirty="0">
                <a:solidFill>
                  <a:schemeClr val="bg1">
                    <a:lumMod val="85000"/>
                  </a:schemeClr>
                </a:solidFill>
                <a:latin typeface="Arial" panose="020B0604020202020204" pitchFamily="34" charset="0"/>
              </a:rPr>
              <a:t>Kaggle Datasets - </a:t>
            </a:r>
            <a:r>
              <a:rPr lang="en-US" altLang="en-US" dirty="0">
                <a:solidFill>
                  <a:srgbClr val="0070C0"/>
                </a:solidFill>
                <a:latin typeface="Arial" panose="020B0604020202020204" pitchFamily="34" charset="0"/>
                <a:hlinkClick r:id="rId3"/>
              </a:rPr>
              <a:t>https://aqicn.org/here</a:t>
            </a:r>
            <a:endParaRPr lang="en-US" altLang="en-US" dirty="0">
              <a:solidFill>
                <a:schemeClr val="bg1">
                  <a:lumMod val="85000"/>
                </a:schemeClr>
              </a:solidFill>
              <a:latin typeface="Arial" panose="020B0604020202020204" pitchFamily="34" charset="0"/>
            </a:endParaRPr>
          </a:p>
          <a:p>
            <a:pPr lvl="0" eaLnBrk="0" fontAlgn="base" hangingPunct="0">
              <a:spcBef>
                <a:spcPct val="0"/>
              </a:spcBef>
              <a:spcAft>
                <a:spcPct val="0"/>
              </a:spcAft>
              <a:buFontTx/>
              <a:buChar char="•"/>
            </a:pPr>
            <a:endParaRPr kumimoji="0" lang="en-US" altLang="en-US" sz="1800" b="0" i="0" u="none" strike="noStrike" cap="none" normalizeH="0" baseline="0" dirty="0">
              <a:ln>
                <a:noFill/>
              </a:ln>
              <a:solidFill>
                <a:schemeClr val="bg1">
                  <a:lumMod val="85000"/>
                </a:schemeClr>
              </a:solidFill>
              <a:effectLst/>
              <a:latin typeface="Arial" panose="020B0604020202020204" pitchFamily="34" charset="0"/>
            </a:endParaRPr>
          </a:p>
          <a:p>
            <a:pPr lvl="0" eaLnBrk="0" fontAlgn="base" hangingPunct="0">
              <a:spcBef>
                <a:spcPct val="0"/>
              </a:spcBef>
              <a:spcAft>
                <a:spcPct val="0"/>
              </a:spcAft>
              <a:buFontTx/>
              <a:buChar char="•"/>
            </a:pPr>
            <a:r>
              <a:rPr lang="en-US" altLang="en-US" dirty="0">
                <a:solidFill>
                  <a:schemeClr val="bg1">
                    <a:lumMod val="85000"/>
                  </a:schemeClr>
                </a:solidFill>
                <a:latin typeface="Arial" panose="020B0604020202020204" pitchFamily="34" charset="0"/>
              </a:rPr>
              <a:t>Research papers on AQI forecasting - </a:t>
            </a:r>
            <a:r>
              <a:rPr lang="en-US" altLang="en-US" dirty="0">
                <a:solidFill>
                  <a:srgbClr val="0070C0"/>
                </a:solidFill>
                <a:latin typeface="Arial" panose="020B0604020202020204" pitchFamily="34" charset="0"/>
                <a:hlinkClick r:id="rId4"/>
              </a:rPr>
              <a:t>https://www.sciencedirect.com/science/article/pii/S004565352301785X</a:t>
            </a:r>
            <a:endParaRPr lang="en-US" altLang="en-US" dirty="0">
              <a:solidFill>
                <a:srgbClr val="0070C0"/>
              </a:solidFill>
              <a:latin typeface="Arial" panose="020B0604020202020204" pitchFamily="34" charset="0"/>
            </a:endParaRPr>
          </a:p>
          <a:p>
            <a:pPr lvl="0" eaLnBrk="0" fontAlgn="base" hangingPunct="0">
              <a:spcBef>
                <a:spcPct val="0"/>
              </a:spcBef>
              <a:spcAft>
                <a:spcPct val="0"/>
              </a:spcAft>
              <a:buFontTx/>
              <a:buChar char="•"/>
            </a:pPr>
            <a:endParaRPr kumimoji="0" lang="en-US" altLang="en-US" sz="1800" b="0" i="0" u="none" strike="noStrike" cap="none" normalizeH="0" baseline="0" dirty="0">
              <a:ln>
                <a:noFill/>
              </a:ln>
              <a:solidFill>
                <a:srgbClr val="0070C0"/>
              </a:solidFill>
              <a:effectLst/>
              <a:latin typeface="Arial" panose="020B0604020202020204" pitchFamily="34" charset="0"/>
            </a:endParaRPr>
          </a:p>
        </p:txBody>
      </p:sp>
      <p:sp>
        <p:nvSpPr>
          <p:cNvPr id="5" name="TextBox 4">
            <a:extLst>
              <a:ext uri="{FF2B5EF4-FFF2-40B4-BE49-F238E27FC236}">
                <a16:creationId xmlns:a16="http://schemas.microsoft.com/office/drawing/2014/main" id="{F9C5964B-6F30-4E3D-8D35-19844F4B7076}"/>
              </a:ext>
            </a:extLst>
          </p:cNvPr>
          <p:cNvSpPr txBox="1"/>
          <p:nvPr/>
        </p:nvSpPr>
        <p:spPr>
          <a:xfrm>
            <a:off x="116732" y="3250474"/>
            <a:ext cx="3424135" cy="769441"/>
          </a:xfrm>
          <a:prstGeom prst="rect">
            <a:avLst/>
          </a:prstGeom>
          <a:noFill/>
        </p:spPr>
        <p:txBody>
          <a:bodyPr wrap="square" rtlCol="0">
            <a:spAutoFit/>
          </a:bodyPr>
          <a:lstStyle/>
          <a:p>
            <a:r>
              <a:rPr lang="en-IN" sz="4400" dirty="0" err="1">
                <a:solidFill>
                  <a:srgbClr val="A7F3FF"/>
                </a:solidFill>
              </a:rPr>
              <a:t>Github</a:t>
            </a:r>
            <a:r>
              <a:rPr lang="en-IN" sz="4400" dirty="0">
                <a:solidFill>
                  <a:srgbClr val="A7F3FF"/>
                </a:solidFill>
              </a:rPr>
              <a:t> Link:</a:t>
            </a:r>
            <a:endParaRPr lang="en-IN" sz="4400" b="1" dirty="0">
              <a:solidFill>
                <a:srgbClr val="A7F3FF"/>
              </a:solidFill>
            </a:endParaRPr>
          </a:p>
        </p:txBody>
      </p:sp>
      <p:sp>
        <p:nvSpPr>
          <p:cNvPr id="2" name="TextBox 1">
            <a:extLst>
              <a:ext uri="{FF2B5EF4-FFF2-40B4-BE49-F238E27FC236}">
                <a16:creationId xmlns:a16="http://schemas.microsoft.com/office/drawing/2014/main" id="{FBA38871-709A-4220-8619-20E8F042A9E4}"/>
              </a:ext>
            </a:extLst>
          </p:cNvPr>
          <p:cNvSpPr txBox="1"/>
          <p:nvPr/>
        </p:nvSpPr>
        <p:spPr>
          <a:xfrm>
            <a:off x="437745" y="4202349"/>
            <a:ext cx="10437778" cy="646331"/>
          </a:xfrm>
          <a:prstGeom prst="rect">
            <a:avLst/>
          </a:prstGeom>
          <a:noFill/>
        </p:spPr>
        <p:txBody>
          <a:bodyPr wrap="square" rtlCol="0">
            <a:spAutoFit/>
          </a:bodyPr>
          <a:lstStyle/>
          <a:p>
            <a:r>
              <a:rPr lang="en-IN" dirty="0">
                <a:solidFill>
                  <a:schemeClr val="bg1">
                    <a:lumMod val="85000"/>
                  </a:schemeClr>
                </a:solidFill>
              </a:rPr>
              <a:t>Providing the </a:t>
            </a:r>
            <a:r>
              <a:rPr lang="en-IN" dirty="0" err="1">
                <a:solidFill>
                  <a:schemeClr val="bg1">
                    <a:lumMod val="85000"/>
                  </a:schemeClr>
                </a:solidFill>
              </a:rPr>
              <a:t>github</a:t>
            </a:r>
            <a:r>
              <a:rPr lang="en-IN" dirty="0">
                <a:solidFill>
                  <a:schemeClr val="bg1">
                    <a:lumMod val="85000"/>
                  </a:schemeClr>
                </a:solidFill>
              </a:rPr>
              <a:t> link that contains all the code files </a:t>
            </a:r>
          </a:p>
          <a:p>
            <a:r>
              <a:rPr lang="en-IN" dirty="0">
                <a:solidFill>
                  <a:srgbClr val="0070C0"/>
                </a:solidFill>
              </a:rPr>
              <a:t>  </a:t>
            </a:r>
            <a:r>
              <a:rPr lang="en-IN" dirty="0">
                <a:solidFill>
                  <a:srgbClr val="0070C0"/>
                </a:solidFill>
                <a:hlinkClick r:id="rId5"/>
              </a:rPr>
              <a:t>https://github.com/Parasuram2530/Infosys-Springboard.git</a:t>
            </a:r>
            <a:endParaRPr lang="en-IN" dirty="0">
              <a:solidFill>
                <a:srgbClr val="0070C0"/>
              </a:solidFill>
            </a:endParaRPr>
          </a:p>
        </p:txBody>
      </p:sp>
    </p:spTree>
    <p:extLst>
      <p:ext uri="{BB962C8B-B14F-4D97-AF65-F5344CB8AC3E}">
        <p14:creationId xmlns:p14="http://schemas.microsoft.com/office/powerpoint/2010/main" val="4227977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9000" r="-19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F46538-6A13-4AA4-8C57-3212683BF60F}"/>
              </a:ext>
            </a:extLst>
          </p:cNvPr>
          <p:cNvSpPr txBox="1"/>
          <p:nvPr/>
        </p:nvSpPr>
        <p:spPr>
          <a:xfrm>
            <a:off x="2538919" y="2129243"/>
            <a:ext cx="8239328" cy="1569660"/>
          </a:xfrm>
          <a:prstGeom prst="rect">
            <a:avLst/>
          </a:prstGeom>
          <a:noFill/>
          <a:effectLst>
            <a:glow rad="139700">
              <a:schemeClr val="accent5">
                <a:satMod val="175000"/>
                <a:alpha val="40000"/>
              </a:schemeClr>
            </a:glow>
          </a:effectLst>
        </p:spPr>
        <p:txBody>
          <a:bodyPr wrap="square" rtlCol="0">
            <a:spAutoFit/>
          </a:bodyPr>
          <a:lstStyle/>
          <a:p>
            <a:r>
              <a:rPr lang="en-IN" sz="9600" b="1" dirty="0">
                <a:solidFill>
                  <a:schemeClr val="bg1"/>
                </a:solidFill>
                <a:effectLst>
                  <a:glow rad="139700">
                    <a:schemeClr val="accent5">
                      <a:satMod val="175000"/>
                      <a:alpha val="40000"/>
                    </a:schemeClr>
                  </a:glow>
                </a:effectLst>
                <a:latin typeface="+mj-lt"/>
                <a:cs typeface="Segoe UI Bold" panose="020B0802040204020203" pitchFamily="34" charset="0"/>
              </a:rPr>
              <a:t>THANK YOU</a:t>
            </a:r>
          </a:p>
        </p:txBody>
      </p:sp>
    </p:spTree>
    <p:extLst>
      <p:ext uri="{BB962C8B-B14F-4D97-AF65-F5344CB8AC3E}">
        <p14:creationId xmlns:p14="http://schemas.microsoft.com/office/powerpoint/2010/main" val="12229472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TotalTime>
  <Words>551</Words>
  <Application>Microsoft Office PowerPoint</Application>
  <PresentationFormat>Widescreen</PresentationFormat>
  <Paragraphs>80</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parasuram goud</dc:creator>
  <cp:lastModifiedBy>parasuram goud</cp:lastModifiedBy>
  <cp:revision>11</cp:revision>
  <dcterms:created xsi:type="dcterms:W3CDTF">2025-10-09T01:18:48Z</dcterms:created>
  <dcterms:modified xsi:type="dcterms:W3CDTF">2025-10-09T02:53:18Z</dcterms:modified>
</cp:coreProperties>
</file>